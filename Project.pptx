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Open Sauce" charset="1" panose="00000500000000000000"/>
      <p:regular r:id="rId19"/>
    </p:embeddedFont>
    <p:embeddedFont>
      <p:font typeface="Open Sauce Bold" charset="1" panose="00000800000000000000"/>
      <p:regular r:id="rId20"/>
    </p:embeddedFont>
    <p:embeddedFont>
      <p:font typeface="Open Sauce Italics" charset="1" panose="00000500000000000000"/>
      <p:regular r:id="rId21"/>
    </p:embeddedFont>
    <p:embeddedFont>
      <p:font typeface="Inter" charset="1" panose="02000503000000020004"/>
      <p:regular r:id="rId22"/>
    </p:embeddedFont>
    <p:embeddedFont>
      <p:font typeface="Inter Bold" charset="1" panose="020005030000000200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028700" y="2195828"/>
            <a:ext cx="13602859" cy="3317183"/>
          </a:xfrm>
          <a:prstGeom prst="rect">
            <a:avLst/>
          </a:prstGeom>
        </p:spPr>
        <p:txBody>
          <a:bodyPr anchor="t" rtlCol="false" tIns="0" lIns="0" bIns="0" rIns="0">
            <a:spAutoFit/>
          </a:bodyPr>
          <a:lstStyle/>
          <a:p>
            <a:pPr algn="l">
              <a:lnSpc>
                <a:spcPts val="8583"/>
              </a:lnSpc>
            </a:pPr>
            <a:r>
              <a:rPr lang="en-US" sz="8583" spc="-515">
                <a:solidFill>
                  <a:srgbClr val="331B0D"/>
                </a:solidFill>
                <a:latin typeface="Open Sauce"/>
                <a:ea typeface="Open Sauce"/>
                <a:cs typeface="Open Sauce"/>
                <a:sym typeface="Open Sauce"/>
              </a:rPr>
              <a:t>Automated Multidisciplinary Design Optimization (MDO) of an Aerospace Wing Rib</a:t>
            </a:r>
          </a:p>
        </p:txBody>
      </p:sp>
      <p:sp>
        <p:nvSpPr>
          <p:cNvPr name="TextBox 3" id="3"/>
          <p:cNvSpPr txBox="true"/>
          <p:nvPr/>
        </p:nvSpPr>
        <p:spPr>
          <a:xfrm rot="0">
            <a:off x="12698616" y="7369021"/>
            <a:ext cx="4560684" cy="327660"/>
          </a:xfrm>
          <a:prstGeom prst="rect">
            <a:avLst/>
          </a:prstGeom>
        </p:spPr>
        <p:txBody>
          <a:bodyPr anchor="t" rtlCol="false" tIns="0" lIns="0" bIns="0" rIns="0">
            <a:spAutoFit/>
          </a:bodyPr>
          <a:lstStyle/>
          <a:p>
            <a:pPr algn="r">
              <a:lnSpc>
                <a:spcPts val="2400"/>
              </a:lnSpc>
              <a:spcBef>
                <a:spcPct val="0"/>
              </a:spcBef>
            </a:pPr>
            <a:r>
              <a:rPr lang="en-US" b="true" sz="2400" spc="240">
                <a:solidFill>
                  <a:srgbClr val="8C7753"/>
                </a:solidFill>
                <a:latin typeface="Open Sauce Bold"/>
                <a:ea typeface="Open Sauce Bold"/>
                <a:cs typeface="Open Sauce Bold"/>
                <a:sym typeface="Open Sauce Bold"/>
              </a:rPr>
              <a:t>OM SHEDAGE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9783941" y="0"/>
            <a:ext cx="8504059" cy="10287000"/>
          </a:xfrm>
          <a:custGeom>
            <a:avLst/>
            <a:gdLst/>
            <a:ahLst/>
            <a:cxnLst/>
            <a:rect r="r" b="b" t="t" l="l"/>
            <a:pathLst>
              <a:path h="10287000" w="8504059">
                <a:moveTo>
                  <a:pt x="0" y="0"/>
                </a:moveTo>
                <a:lnTo>
                  <a:pt x="8504059" y="0"/>
                </a:lnTo>
                <a:lnTo>
                  <a:pt x="8504059" y="10287000"/>
                </a:lnTo>
                <a:lnTo>
                  <a:pt x="0" y="10287000"/>
                </a:lnTo>
                <a:lnTo>
                  <a:pt x="0" y="0"/>
                </a:lnTo>
                <a:close/>
              </a:path>
            </a:pathLst>
          </a:custGeom>
          <a:blipFill>
            <a:blip r:embed="rId2"/>
            <a:stretch>
              <a:fillRect l="-1071" t="-25075" r="0" b="-56562"/>
            </a:stretch>
          </a:blipFill>
        </p:spPr>
      </p:sp>
      <p:sp>
        <p:nvSpPr>
          <p:cNvPr name="TextBox 3" id="3"/>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Project Objective</a:t>
            </a:r>
          </a:p>
        </p:txBody>
      </p:sp>
      <p:sp>
        <p:nvSpPr>
          <p:cNvPr name="TextBox 4" id="4"/>
          <p:cNvSpPr txBox="true"/>
          <p:nvPr/>
        </p:nvSpPr>
        <p:spPr>
          <a:xfrm rot="0">
            <a:off x="1028700" y="3073722"/>
            <a:ext cx="2059370" cy="405765"/>
          </a:xfrm>
          <a:prstGeom prst="rect">
            <a:avLst/>
          </a:prstGeom>
        </p:spPr>
        <p:txBody>
          <a:bodyPr anchor="t" rtlCol="false" tIns="0" lIns="0" bIns="0" rIns="0">
            <a:spAutoFit/>
          </a:bodyPr>
          <a:lstStyle/>
          <a:p>
            <a:pPr algn="l">
              <a:lnSpc>
                <a:spcPts val="3359"/>
              </a:lnSpc>
              <a:spcBef>
                <a:spcPct val="0"/>
              </a:spcBef>
            </a:pPr>
            <a:r>
              <a:rPr lang="en-US" b="true" sz="2400">
                <a:solidFill>
                  <a:srgbClr val="8C7753"/>
                </a:solidFill>
                <a:latin typeface="Open Sauce Bold"/>
                <a:ea typeface="Open Sauce Bold"/>
                <a:cs typeface="Open Sauce Bold"/>
                <a:sym typeface="Open Sauce Bold"/>
              </a:rPr>
              <a:t>Main G</a:t>
            </a:r>
            <a:r>
              <a:rPr lang="en-US" b="true" sz="2400">
                <a:solidFill>
                  <a:srgbClr val="8C7753"/>
                </a:solidFill>
                <a:latin typeface="Open Sauce Bold"/>
                <a:ea typeface="Open Sauce Bold"/>
                <a:cs typeface="Open Sauce Bold"/>
                <a:sym typeface="Open Sauce Bold"/>
              </a:rPr>
              <a:t>oal</a:t>
            </a:r>
          </a:p>
        </p:txBody>
      </p:sp>
      <p:sp>
        <p:nvSpPr>
          <p:cNvPr name="TextBox 5" id="5"/>
          <p:cNvSpPr txBox="true"/>
          <p:nvPr/>
        </p:nvSpPr>
        <p:spPr>
          <a:xfrm rot="0">
            <a:off x="1028700" y="3831912"/>
            <a:ext cx="7342398" cy="148018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To </a:t>
            </a:r>
            <a:r>
              <a:rPr lang="en-US" sz="2100">
                <a:solidFill>
                  <a:srgbClr val="331B0D"/>
                </a:solidFill>
                <a:latin typeface="Open Sauce"/>
                <a:ea typeface="Open Sauce"/>
                <a:cs typeface="Open Sauce"/>
                <a:sym typeface="Open Sauce"/>
              </a:rPr>
              <a:t>engineer a fully autonomous software pipeline that eliminates manual CAD-to-FEA iteration, maximizing the mass reduction of a wing rib while strictly adhering to a structural safety limit</a:t>
            </a:r>
          </a:p>
        </p:txBody>
      </p:sp>
      <p:sp>
        <p:nvSpPr>
          <p:cNvPr name="TextBox 6" id="6"/>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FFFFFF"/>
                </a:solidFill>
                <a:latin typeface="Open Sauce"/>
                <a:ea typeface="Open Sauce"/>
                <a:cs typeface="Open Sauce"/>
                <a:sym typeface="Open Sauce"/>
              </a:rPr>
              <a:t>3</a:t>
            </a:r>
          </a:p>
        </p:txBody>
      </p:sp>
      <p:sp>
        <p:nvSpPr>
          <p:cNvPr name="TextBox 7" id="7"/>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sz="1800">
                <a:solidFill>
                  <a:srgbClr val="8C7753"/>
                </a:solidFill>
                <a:latin typeface="Open Sauce"/>
                <a:ea typeface="Open Sauce"/>
                <a:cs typeface="Open Sauce"/>
                <a:sym typeface="Open Sauce"/>
              </a:rPr>
              <a:t>Introduction</a:t>
            </a:r>
          </a:p>
        </p:txBody>
      </p:sp>
      <p:sp>
        <p:nvSpPr>
          <p:cNvPr name="TextBox 8" id="8"/>
          <p:cNvSpPr txBox="true"/>
          <p:nvPr/>
        </p:nvSpPr>
        <p:spPr>
          <a:xfrm rot="0">
            <a:off x="14411514" y="1057275"/>
            <a:ext cx="2847786" cy="245745"/>
          </a:xfrm>
          <a:prstGeom prst="rect">
            <a:avLst/>
          </a:prstGeom>
        </p:spPr>
        <p:txBody>
          <a:bodyPr anchor="t" rtlCol="false" tIns="0" lIns="0" bIns="0" rIns="0">
            <a:spAutoFit/>
          </a:bodyPr>
          <a:lstStyle/>
          <a:p>
            <a:pPr algn="r">
              <a:lnSpc>
                <a:spcPts val="1800"/>
              </a:lnSpc>
              <a:spcBef>
                <a:spcPct val="0"/>
              </a:spcBef>
            </a:pPr>
            <a:r>
              <a:rPr lang="en-US" sz="1800">
                <a:solidFill>
                  <a:srgbClr val="FFFFFF"/>
                </a:solidFill>
                <a:latin typeface="Open Sauce"/>
                <a:ea typeface="Open Sauce"/>
                <a:cs typeface="Open Sauce"/>
                <a:sym typeface="Open Sauce"/>
              </a:rPr>
              <a:t>Team A</a:t>
            </a:r>
          </a:p>
        </p:txBody>
      </p:sp>
      <p:sp>
        <p:nvSpPr>
          <p:cNvPr name="TextBox 9" id="9"/>
          <p:cNvSpPr txBox="true"/>
          <p:nvPr/>
        </p:nvSpPr>
        <p:spPr>
          <a:xfrm rot="0">
            <a:off x="1028700" y="5702622"/>
            <a:ext cx="4473749" cy="405765"/>
          </a:xfrm>
          <a:prstGeom prst="rect">
            <a:avLst/>
          </a:prstGeom>
        </p:spPr>
        <p:txBody>
          <a:bodyPr anchor="t" rtlCol="false" tIns="0" lIns="0" bIns="0" rIns="0">
            <a:spAutoFit/>
          </a:bodyPr>
          <a:lstStyle/>
          <a:p>
            <a:pPr algn="l">
              <a:lnSpc>
                <a:spcPts val="3359"/>
              </a:lnSpc>
              <a:spcBef>
                <a:spcPct val="0"/>
              </a:spcBef>
            </a:pPr>
            <a:r>
              <a:rPr lang="en-US" b="true" sz="2400">
                <a:solidFill>
                  <a:srgbClr val="8C7753"/>
                </a:solidFill>
                <a:latin typeface="Open Sauce Bold"/>
                <a:ea typeface="Open Sauce Bold"/>
                <a:cs typeface="Open Sauce Bold"/>
                <a:sym typeface="Open Sauce Bold"/>
              </a:rPr>
              <a:t>Supporting Objectives</a:t>
            </a:r>
          </a:p>
        </p:txBody>
      </p:sp>
      <p:sp>
        <p:nvSpPr>
          <p:cNvPr name="TextBox 10" id="10"/>
          <p:cNvSpPr txBox="true"/>
          <p:nvPr/>
        </p:nvSpPr>
        <p:spPr>
          <a:xfrm rot="0">
            <a:off x="1028700" y="6460812"/>
            <a:ext cx="7342398" cy="296608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Sof</a:t>
            </a:r>
            <a:r>
              <a:rPr lang="en-US" sz="2100">
                <a:solidFill>
                  <a:srgbClr val="331B0D"/>
                </a:solidFill>
                <a:latin typeface="Open Sauce"/>
                <a:ea typeface="Open Sauce"/>
                <a:cs typeface="Open Sauce"/>
                <a:sym typeface="Open Sauce"/>
              </a:rPr>
              <a:t>tware Integration: Establish a reliable "data bridge" between Fusion 360 and ANSYS Mechanical using Python GUI automation and programmatic file-handling.</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Algorithmic Control: Implement a proportional control logic loop that intelligently calculates geometric changes based on real-time stress feedback, preventing the simulation from overshooting</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476250"/>
            <a:ext cx="18288000" cy="7614470"/>
            <a:chOff x="0" y="0"/>
            <a:chExt cx="1811948" cy="754430"/>
          </a:xfrm>
        </p:grpSpPr>
        <p:sp>
          <p:nvSpPr>
            <p:cNvPr name="Freeform 3" id="3"/>
            <p:cNvSpPr/>
            <p:nvPr/>
          </p:nvSpPr>
          <p:spPr>
            <a:xfrm flipH="false" flipV="false" rot="0">
              <a:off x="0" y="0"/>
              <a:ext cx="1811948" cy="754430"/>
            </a:xfrm>
            <a:custGeom>
              <a:avLst/>
              <a:gdLst/>
              <a:ahLst/>
              <a:cxnLst/>
              <a:rect r="r" b="b" t="t" l="l"/>
              <a:pathLst>
                <a:path h="754430" w="1811948">
                  <a:moveTo>
                    <a:pt x="1811948" y="0"/>
                  </a:moveTo>
                  <a:lnTo>
                    <a:pt x="1811948" y="640130"/>
                  </a:lnTo>
                  <a:lnTo>
                    <a:pt x="905974" y="754430"/>
                  </a:lnTo>
                  <a:lnTo>
                    <a:pt x="0" y="640130"/>
                  </a:lnTo>
                  <a:lnTo>
                    <a:pt x="0" y="0"/>
                  </a:lnTo>
                  <a:lnTo>
                    <a:pt x="1811948" y="0"/>
                  </a:lnTo>
                  <a:close/>
                </a:path>
              </a:pathLst>
            </a:custGeom>
            <a:solidFill>
              <a:srgbClr val="FAF7F0"/>
            </a:solidFill>
          </p:spPr>
        </p:sp>
        <p:sp>
          <p:nvSpPr>
            <p:cNvPr name="TextBox 4" id="4"/>
            <p:cNvSpPr txBox="true"/>
            <p:nvPr/>
          </p:nvSpPr>
          <p:spPr>
            <a:xfrm>
              <a:off x="0" y="-47625"/>
              <a:ext cx="1811948" cy="687755"/>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What We Found</a:t>
            </a:r>
          </a:p>
        </p:txBody>
      </p:sp>
      <p:sp>
        <p:nvSpPr>
          <p:cNvPr name="TextBox 6" id="6"/>
          <p:cNvSpPr txBox="true"/>
          <p:nvPr/>
        </p:nvSpPr>
        <p:spPr>
          <a:xfrm rot="0">
            <a:off x="1028700" y="4113212"/>
            <a:ext cx="4238166" cy="1851660"/>
          </a:xfrm>
          <a:prstGeom prst="rect">
            <a:avLst/>
          </a:prstGeom>
        </p:spPr>
        <p:txBody>
          <a:bodyPr anchor="t" rtlCol="false" tIns="0" lIns="0" bIns="0" rIns="0">
            <a:spAutoFit/>
          </a:bodyPr>
          <a:lstStyle/>
          <a:p>
            <a:pPr algn="ctr">
              <a:lnSpc>
                <a:spcPts val="2940"/>
              </a:lnSpc>
              <a:spcBef>
                <a:spcPct val="0"/>
              </a:spcBef>
            </a:pPr>
            <a:r>
              <a:rPr lang="en-US" sz="2100">
                <a:solidFill>
                  <a:srgbClr val="331B0D"/>
                </a:solidFill>
                <a:latin typeface="Open Sauce"/>
                <a:ea typeface="Open Sauce"/>
                <a:cs typeface="Open Sauce"/>
                <a:sym typeface="Open Sauce"/>
              </a:rPr>
              <a:t>A</a:t>
            </a:r>
            <a:r>
              <a:rPr lang="en-US" sz="2100">
                <a:solidFill>
                  <a:srgbClr val="331B0D"/>
                </a:solidFill>
                <a:latin typeface="Open Sauce"/>
                <a:ea typeface="Open Sauce"/>
                <a:cs typeface="Open Sauce"/>
                <a:sym typeface="Open Sauce"/>
              </a:rPr>
              <a:t> single manual CAD-to-FEA optimization loop takes 10-15 minutes of active, repetitive clicking, wasting valuable engineering hours</a:t>
            </a:r>
          </a:p>
        </p:txBody>
      </p:sp>
      <p:sp>
        <p:nvSpPr>
          <p:cNvPr name="TextBox 7" id="7"/>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4</a:t>
            </a:r>
          </a:p>
        </p:txBody>
      </p:sp>
      <p:sp>
        <p:nvSpPr>
          <p:cNvPr name="TextBox 8" id="8"/>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Background Research</a:t>
            </a:r>
          </a:p>
        </p:txBody>
      </p:sp>
      <p:sp>
        <p:nvSpPr>
          <p:cNvPr name="TextBox 9" id="9"/>
          <p:cNvSpPr txBox="true"/>
          <p:nvPr/>
        </p:nvSpPr>
        <p:spPr>
          <a:xfrm rot="0">
            <a:off x="7024917" y="4113212"/>
            <a:ext cx="4238166" cy="2223135"/>
          </a:xfrm>
          <a:prstGeom prst="rect">
            <a:avLst/>
          </a:prstGeom>
        </p:spPr>
        <p:txBody>
          <a:bodyPr anchor="t" rtlCol="false" tIns="0" lIns="0" bIns="0" rIns="0">
            <a:spAutoFit/>
          </a:bodyPr>
          <a:lstStyle/>
          <a:p>
            <a:pPr algn="ctr">
              <a:lnSpc>
                <a:spcPts val="2940"/>
              </a:lnSpc>
              <a:spcBef>
                <a:spcPct val="0"/>
              </a:spcBef>
            </a:pPr>
            <a:r>
              <a:rPr lang="en-US" sz="2100">
                <a:solidFill>
                  <a:srgbClr val="331B0D"/>
                </a:solidFill>
                <a:latin typeface="Open Sauce"/>
                <a:ea typeface="Open Sauce"/>
                <a:cs typeface="Open Sauce"/>
                <a:sym typeface="Open Sauce"/>
              </a:rPr>
              <a:t>    With</a:t>
            </a:r>
            <a:r>
              <a:rPr lang="en-US" sz="2100">
                <a:solidFill>
                  <a:srgbClr val="331B0D"/>
                </a:solidFill>
                <a:latin typeface="Open Sauce"/>
                <a:ea typeface="Open Sauce"/>
                <a:cs typeface="Open Sauce"/>
                <a:sym typeface="Open Sauce"/>
              </a:rPr>
              <a:t>out mathematical control logic, engineers must rely on "guess and check" sizing, which is highly prone to human error.</a:t>
            </a:r>
          </a:p>
          <a:p>
            <a:pPr algn="ctr">
              <a:lnSpc>
                <a:spcPts val="2940"/>
              </a:lnSpc>
              <a:spcBef>
                <a:spcPct val="0"/>
              </a:spcBef>
            </a:pPr>
          </a:p>
          <a:p>
            <a:pPr algn="ctr">
              <a:lnSpc>
                <a:spcPts val="2940"/>
              </a:lnSpc>
              <a:spcBef>
                <a:spcPct val="0"/>
              </a:spcBef>
            </a:pPr>
          </a:p>
        </p:txBody>
      </p:sp>
      <p:sp>
        <p:nvSpPr>
          <p:cNvPr name="TextBox 10" id="10"/>
          <p:cNvSpPr txBox="true"/>
          <p:nvPr/>
        </p:nvSpPr>
        <p:spPr>
          <a:xfrm rot="0">
            <a:off x="13025208" y="4113212"/>
            <a:ext cx="4238166" cy="1851660"/>
          </a:xfrm>
          <a:prstGeom prst="rect">
            <a:avLst/>
          </a:prstGeom>
        </p:spPr>
        <p:txBody>
          <a:bodyPr anchor="t" rtlCol="false" tIns="0" lIns="0" bIns="0" rIns="0">
            <a:spAutoFit/>
          </a:bodyPr>
          <a:lstStyle/>
          <a:p>
            <a:pPr algn="ctr">
              <a:lnSpc>
                <a:spcPts val="2940"/>
              </a:lnSpc>
              <a:spcBef>
                <a:spcPct val="0"/>
              </a:spcBef>
            </a:pPr>
            <a:r>
              <a:rPr lang="en-US" sz="2100">
                <a:solidFill>
                  <a:srgbClr val="331B0D"/>
                </a:solidFill>
                <a:latin typeface="Open Sauce"/>
                <a:ea typeface="Open Sauce"/>
                <a:cs typeface="Open Sauce"/>
                <a:sym typeface="Open Sauce"/>
              </a:rPr>
              <a:t>Becau</a:t>
            </a:r>
            <a:r>
              <a:rPr lang="en-US" sz="2100">
                <a:solidFill>
                  <a:srgbClr val="331B0D"/>
                </a:solidFill>
                <a:latin typeface="Open Sauce"/>
                <a:ea typeface="Open Sauce"/>
                <a:cs typeface="Open Sauce"/>
                <a:sym typeface="Open Sauce"/>
              </a:rPr>
              <a:t>se the manual process is so slow, optimization is often stopped early, leaving excess "dead weight" on the final aircraft.</a:t>
            </a:r>
          </a:p>
        </p:txBody>
      </p:sp>
      <p:sp>
        <p:nvSpPr>
          <p:cNvPr name="TextBox 11" id="11"/>
          <p:cNvSpPr txBox="true"/>
          <p:nvPr/>
        </p:nvSpPr>
        <p:spPr>
          <a:xfrm rot="0">
            <a:off x="7708748" y="7658100"/>
            <a:ext cx="2870504" cy="405765"/>
          </a:xfrm>
          <a:prstGeom prst="rect">
            <a:avLst/>
          </a:prstGeom>
        </p:spPr>
        <p:txBody>
          <a:bodyPr anchor="t" rtlCol="false" tIns="0" lIns="0" bIns="0" rIns="0">
            <a:spAutoFit/>
          </a:bodyPr>
          <a:lstStyle/>
          <a:p>
            <a:pPr algn="ctr">
              <a:lnSpc>
                <a:spcPts val="3359"/>
              </a:lnSpc>
              <a:spcBef>
                <a:spcPct val="0"/>
              </a:spcBef>
            </a:pPr>
            <a:r>
              <a:rPr lang="en-US" sz="2400" i="true">
                <a:solidFill>
                  <a:srgbClr val="8C7753"/>
                </a:solidFill>
                <a:latin typeface="Open Sauce Italics"/>
                <a:ea typeface="Open Sauce Italics"/>
                <a:cs typeface="Open Sauce Italics"/>
                <a:sym typeface="Open Sauce Italics"/>
              </a:rPr>
              <a:t>Key Insight</a:t>
            </a:r>
          </a:p>
        </p:txBody>
      </p:sp>
      <p:sp>
        <p:nvSpPr>
          <p:cNvPr name="TextBox 12" id="12"/>
          <p:cNvSpPr txBox="true"/>
          <p:nvPr/>
        </p:nvSpPr>
        <p:spPr>
          <a:xfrm rot="0">
            <a:off x="4026809" y="8416290"/>
            <a:ext cx="10234383" cy="737235"/>
          </a:xfrm>
          <a:prstGeom prst="rect">
            <a:avLst/>
          </a:prstGeom>
        </p:spPr>
        <p:txBody>
          <a:bodyPr anchor="t" rtlCol="false" tIns="0" lIns="0" bIns="0" rIns="0">
            <a:spAutoFit/>
          </a:bodyPr>
          <a:lstStyle/>
          <a:p>
            <a:pPr algn="ctr">
              <a:lnSpc>
                <a:spcPts val="2940"/>
              </a:lnSpc>
              <a:spcBef>
                <a:spcPct val="0"/>
              </a:spcBef>
            </a:pPr>
            <a:r>
              <a:rPr lang="en-US" sz="2100" i="true">
                <a:solidFill>
                  <a:srgbClr val="331B0D"/>
                </a:solidFill>
                <a:latin typeface="Open Sauce Italics"/>
                <a:ea typeface="Open Sauce Italics"/>
                <a:cs typeface="Open Sauce Italics"/>
                <a:sym typeface="Open Sauce Italics"/>
              </a:rPr>
              <a:t>Engine</a:t>
            </a:r>
            <a:r>
              <a:rPr lang="en-US" sz="2100" i="true">
                <a:solidFill>
                  <a:srgbClr val="331B0D"/>
                </a:solidFill>
                <a:latin typeface="Open Sauce Italics"/>
                <a:ea typeface="Open Sauce Italics"/>
                <a:cs typeface="Open Sauce Italics"/>
                <a:sym typeface="Open Sauce Italics"/>
              </a:rPr>
              <a:t>ers don't lack powerful simulation tools — they lack the automated pipelines required to let those tools communicate.</a:t>
            </a:r>
          </a:p>
        </p:txBody>
      </p:sp>
      <p:sp>
        <p:nvSpPr>
          <p:cNvPr name="TextBox 13" id="13"/>
          <p:cNvSpPr txBox="true"/>
          <p:nvPr/>
        </p:nvSpPr>
        <p:spPr>
          <a:xfrm rot="0">
            <a:off x="1712531" y="3273835"/>
            <a:ext cx="2870504"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8C7753"/>
                </a:solidFill>
                <a:latin typeface="Open Sauce Bold"/>
                <a:ea typeface="Open Sauce Bold"/>
                <a:cs typeface="Open Sauce Bold"/>
                <a:sym typeface="Open Sauce Bold"/>
              </a:rPr>
              <a:t>1</a:t>
            </a:r>
          </a:p>
        </p:txBody>
      </p:sp>
      <p:sp>
        <p:nvSpPr>
          <p:cNvPr name="TextBox 14" id="14"/>
          <p:cNvSpPr txBox="true"/>
          <p:nvPr/>
        </p:nvSpPr>
        <p:spPr>
          <a:xfrm rot="0">
            <a:off x="7708748" y="3273835"/>
            <a:ext cx="2870504"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8C7753"/>
                </a:solidFill>
                <a:latin typeface="Open Sauce Bold"/>
                <a:ea typeface="Open Sauce Bold"/>
                <a:cs typeface="Open Sauce Bold"/>
                <a:sym typeface="Open Sauce Bold"/>
              </a:rPr>
              <a:t>2</a:t>
            </a:r>
          </a:p>
        </p:txBody>
      </p:sp>
      <p:sp>
        <p:nvSpPr>
          <p:cNvPr name="TextBox 15" id="15"/>
          <p:cNvSpPr txBox="true"/>
          <p:nvPr/>
        </p:nvSpPr>
        <p:spPr>
          <a:xfrm rot="0">
            <a:off x="13709039" y="3273835"/>
            <a:ext cx="2870504"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8C7753"/>
                </a:solidFill>
                <a:latin typeface="Open Sauce Bold"/>
                <a:ea typeface="Open Sauce Bold"/>
                <a:cs typeface="Open Sauce Bold"/>
                <a:sym typeface="Open Sauce Bold"/>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84632" y="3702372"/>
            <a:ext cx="1706721" cy="1733445"/>
          </a:xfrm>
          <a:custGeom>
            <a:avLst/>
            <a:gdLst/>
            <a:ahLst/>
            <a:cxnLst/>
            <a:rect r="r" b="b" t="t" l="l"/>
            <a:pathLst>
              <a:path h="1733445" w="1706721">
                <a:moveTo>
                  <a:pt x="0" y="0"/>
                </a:moveTo>
                <a:lnTo>
                  <a:pt x="1706721" y="0"/>
                </a:lnTo>
                <a:lnTo>
                  <a:pt x="1706721" y="1733445"/>
                </a:lnTo>
                <a:lnTo>
                  <a:pt x="0" y="1733445"/>
                </a:lnTo>
                <a:lnTo>
                  <a:pt x="0" y="0"/>
                </a:lnTo>
                <a:close/>
              </a:path>
            </a:pathLst>
          </a:custGeom>
          <a:blipFill>
            <a:blip r:embed="rId2"/>
            <a:stretch>
              <a:fillRect l="0" t="0" r="0" b="0"/>
            </a:stretch>
          </a:blipFill>
        </p:spPr>
      </p:sp>
      <p:sp>
        <p:nvSpPr>
          <p:cNvPr name="Freeform 3" id="3"/>
          <p:cNvSpPr/>
          <p:nvPr/>
        </p:nvSpPr>
        <p:spPr>
          <a:xfrm flipH="false" flipV="false" rot="0">
            <a:off x="9276000" y="3597597"/>
            <a:ext cx="1675859" cy="2022153"/>
          </a:xfrm>
          <a:custGeom>
            <a:avLst/>
            <a:gdLst/>
            <a:ahLst/>
            <a:cxnLst/>
            <a:rect r="r" b="b" t="t" l="l"/>
            <a:pathLst>
              <a:path h="2022153" w="1675859">
                <a:moveTo>
                  <a:pt x="0" y="0"/>
                </a:moveTo>
                <a:lnTo>
                  <a:pt x="1675859" y="0"/>
                </a:lnTo>
                <a:lnTo>
                  <a:pt x="1675859" y="2022153"/>
                </a:lnTo>
                <a:lnTo>
                  <a:pt x="0" y="2022153"/>
                </a:lnTo>
                <a:lnTo>
                  <a:pt x="0" y="0"/>
                </a:lnTo>
                <a:close/>
              </a:path>
            </a:pathLst>
          </a:custGeom>
          <a:blipFill>
            <a:blip r:embed="rId3"/>
            <a:stretch>
              <a:fillRect l="0" t="0" r="0" b="0"/>
            </a:stretch>
          </a:blipFill>
        </p:spPr>
      </p:sp>
      <p:sp>
        <p:nvSpPr>
          <p:cNvPr name="Freeform 4" id="4"/>
          <p:cNvSpPr/>
          <p:nvPr/>
        </p:nvSpPr>
        <p:spPr>
          <a:xfrm flipH="false" flipV="false" rot="0">
            <a:off x="0" y="7607622"/>
            <a:ext cx="18288000" cy="2679378"/>
          </a:xfrm>
          <a:custGeom>
            <a:avLst/>
            <a:gdLst/>
            <a:ahLst/>
            <a:cxnLst/>
            <a:rect r="r" b="b" t="t" l="l"/>
            <a:pathLst>
              <a:path h="2679378" w="18288000">
                <a:moveTo>
                  <a:pt x="0" y="0"/>
                </a:moveTo>
                <a:lnTo>
                  <a:pt x="18288000" y="0"/>
                </a:lnTo>
                <a:lnTo>
                  <a:pt x="18288000" y="2679378"/>
                </a:lnTo>
                <a:lnTo>
                  <a:pt x="0" y="2679378"/>
                </a:lnTo>
                <a:lnTo>
                  <a:pt x="0" y="0"/>
                </a:lnTo>
                <a:close/>
              </a:path>
            </a:pathLst>
          </a:custGeom>
          <a:blipFill>
            <a:blip r:embed="rId4"/>
            <a:stretch>
              <a:fillRect l="0" t="-79715" r="0" b="-275315"/>
            </a:stretch>
          </a:blipFill>
        </p:spPr>
      </p:sp>
      <p:sp>
        <p:nvSpPr>
          <p:cNvPr name="TextBox 5" id="5"/>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Who We Designed For</a:t>
            </a:r>
          </a:p>
        </p:txBody>
      </p:sp>
      <p:sp>
        <p:nvSpPr>
          <p:cNvPr name="TextBox 6" id="6"/>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FFFFFF"/>
                </a:solidFill>
                <a:latin typeface="Open Sauce"/>
                <a:ea typeface="Open Sauce"/>
                <a:cs typeface="Open Sauce"/>
                <a:sym typeface="Open Sauce"/>
              </a:rPr>
              <a:t>5</a:t>
            </a:r>
          </a:p>
        </p:txBody>
      </p:sp>
      <p:sp>
        <p:nvSpPr>
          <p:cNvPr name="TextBox 7" id="7"/>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 INDUSTRY APPLICATION</a:t>
            </a:r>
          </a:p>
        </p:txBody>
      </p:sp>
      <p:sp>
        <p:nvSpPr>
          <p:cNvPr name="TextBox 8" id="8"/>
          <p:cNvSpPr txBox="true"/>
          <p:nvPr/>
        </p:nvSpPr>
        <p:spPr>
          <a:xfrm rot="0">
            <a:off x="3149424" y="3549972"/>
            <a:ext cx="2059370"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Target User</a:t>
            </a:r>
          </a:p>
        </p:txBody>
      </p:sp>
      <p:sp>
        <p:nvSpPr>
          <p:cNvPr name="TextBox 9" id="9"/>
          <p:cNvSpPr txBox="true"/>
          <p:nvPr/>
        </p:nvSpPr>
        <p:spPr>
          <a:xfrm rot="0">
            <a:off x="3149424" y="4308162"/>
            <a:ext cx="4355740" cy="296608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A</a:t>
            </a:r>
            <a:r>
              <a:rPr lang="en-US" sz="2100">
                <a:solidFill>
                  <a:srgbClr val="331B0D"/>
                </a:solidFill>
                <a:latin typeface="Open Sauce"/>
                <a:ea typeface="Open Sauce"/>
                <a:cs typeface="Open Sauce"/>
                <a:sym typeface="Open Sauce"/>
              </a:rPr>
              <a:t>erospace Structural Engineers &amp; CAD/FEA Analysts</a:t>
            </a:r>
          </a:p>
          <a:p>
            <a:pPr algn="l">
              <a:lnSpc>
                <a:spcPts val="2940"/>
              </a:lnSpc>
              <a:spcBef>
                <a:spcPct val="0"/>
              </a:spcBef>
            </a:pPr>
            <a:r>
              <a:rPr lang="en-US" sz="2100">
                <a:solidFill>
                  <a:srgbClr val="331B0D"/>
                </a:solidFill>
                <a:latin typeface="Open Sauce"/>
                <a:ea typeface="Open Sauce"/>
                <a:cs typeface="Open Sauce"/>
                <a:sym typeface="Open Sauce"/>
              </a:rPr>
              <a:t>Professionals responsible for light-weighting aircraft components (reducing mass to save fuel) while ensuring the parts can safely survive extreme aerodynamic flight loads.</a:t>
            </a:r>
          </a:p>
        </p:txBody>
      </p:sp>
      <p:sp>
        <p:nvSpPr>
          <p:cNvPr name="TextBox 10" id="10"/>
          <p:cNvSpPr txBox="true"/>
          <p:nvPr/>
        </p:nvSpPr>
        <p:spPr>
          <a:xfrm rot="0">
            <a:off x="11425565" y="3549972"/>
            <a:ext cx="279265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Their Challenges</a:t>
            </a:r>
          </a:p>
        </p:txBody>
      </p:sp>
      <p:sp>
        <p:nvSpPr>
          <p:cNvPr name="TextBox 11" id="11"/>
          <p:cNvSpPr txBox="true"/>
          <p:nvPr/>
        </p:nvSpPr>
        <p:spPr>
          <a:xfrm rot="0">
            <a:off x="11425565" y="4101160"/>
            <a:ext cx="6088067" cy="3054206"/>
          </a:xfrm>
          <a:prstGeom prst="rect">
            <a:avLst/>
          </a:prstGeom>
        </p:spPr>
        <p:txBody>
          <a:bodyPr anchor="t" rtlCol="false" tIns="0" lIns="0" bIns="0" rIns="0">
            <a:spAutoFit/>
          </a:bodyPr>
          <a:lstStyle/>
          <a:p>
            <a:pPr algn="l" marL="468559" indent="-234280" lvl="1">
              <a:lnSpc>
                <a:spcPts val="3038"/>
              </a:lnSpc>
              <a:spcBef>
                <a:spcPct val="0"/>
              </a:spcBef>
              <a:buFont typeface="Arial"/>
              <a:buChar char="•"/>
            </a:pPr>
            <a:r>
              <a:rPr lang="en-US" sz="2170">
                <a:solidFill>
                  <a:srgbClr val="331B0D"/>
                </a:solidFill>
                <a:latin typeface="Open Sauce"/>
                <a:ea typeface="Open Sauce"/>
                <a:cs typeface="Open Sauce"/>
                <a:sym typeface="Open Sauce"/>
              </a:rPr>
              <a:t>Struggl</a:t>
            </a:r>
            <a:r>
              <a:rPr lang="en-US" sz="2170">
                <a:solidFill>
                  <a:srgbClr val="331B0D"/>
                </a:solidFill>
                <a:latin typeface="Open Sauce"/>
                <a:ea typeface="Open Sauce"/>
                <a:cs typeface="Open Sauce"/>
                <a:sym typeface="Open Sauce"/>
              </a:rPr>
              <a:t>e with the massive time sink of manually updating parametric CAD models and constantly bridging files between different software environments.</a:t>
            </a:r>
          </a:p>
          <a:p>
            <a:pPr algn="l" marL="468559" indent="-234280" lvl="1">
              <a:lnSpc>
                <a:spcPts val="3038"/>
              </a:lnSpc>
              <a:spcBef>
                <a:spcPct val="0"/>
              </a:spcBef>
              <a:buFont typeface="Arial"/>
              <a:buChar char="•"/>
            </a:pPr>
            <a:r>
              <a:rPr lang="en-US" sz="2170">
                <a:solidFill>
                  <a:srgbClr val="331B0D"/>
                </a:solidFill>
                <a:latin typeface="Open Sauce"/>
                <a:ea typeface="Open Sauce"/>
                <a:cs typeface="Open Sauce"/>
                <a:sym typeface="Open Sauce"/>
              </a:rPr>
              <a:t>Rely on inefficient "guess and check" methods to determine how much material to remove without exceeding strict stress limits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Methodology</a:t>
            </a:r>
          </a:p>
        </p:txBody>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7</a:t>
            </a:r>
          </a:p>
        </p:txBody>
      </p:sp>
      <p:sp>
        <p:nvSpPr>
          <p:cNvPr name="TextBox 4" id="4"/>
          <p:cNvSpPr txBox="true"/>
          <p:nvPr/>
        </p:nvSpPr>
        <p:spPr>
          <a:xfrm rot="0">
            <a:off x="1028700" y="1057275"/>
            <a:ext cx="7342398"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SYSTEM ARCHITECTURE</a:t>
            </a:r>
          </a:p>
        </p:txBody>
      </p:sp>
      <p:sp>
        <p:nvSpPr>
          <p:cNvPr name="TextBox 5" id="5"/>
          <p:cNvSpPr txBox="true"/>
          <p:nvPr/>
        </p:nvSpPr>
        <p:spPr>
          <a:xfrm rot="0">
            <a:off x="1651528" y="3576179"/>
            <a:ext cx="2967865" cy="405765"/>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8C7753"/>
                </a:solidFill>
                <a:latin typeface="Open Sauce"/>
                <a:ea typeface="Open Sauce"/>
                <a:cs typeface="Open Sauce"/>
                <a:sym typeface="Open Sauce"/>
              </a:rPr>
              <a:t>Re</a:t>
            </a:r>
            <a:r>
              <a:rPr lang="en-US" sz="2400" strike="noStrike" u="none">
                <a:solidFill>
                  <a:srgbClr val="8C7753"/>
                </a:solidFill>
                <a:latin typeface="Open Sauce"/>
                <a:ea typeface="Open Sauce"/>
                <a:cs typeface="Open Sauce"/>
                <a:sym typeface="Open Sauce"/>
              </a:rPr>
              <a:t>se</a:t>
            </a:r>
            <a:r>
              <a:rPr lang="en-US" sz="2400" strike="noStrike" u="none">
                <a:solidFill>
                  <a:srgbClr val="8C7753"/>
                </a:solidFill>
                <a:latin typeface="Open Sauce"/>
                <a:ea typeface="Open Sauce"/>
                <a:cs typeface="Open Sauce"/>
                <a:sym typeface="Open Sauce"/>
              </a:rPr>
              <a:t>arch</a:t>
            </a:r>
          </a:p>
        </p:txBody>
      </p:sp>
      <p:sp>
        <p:nvSpPr>
          <p:cNvPr name="TextBox 6" id="6"/>
          <p:cNvSpPr txBox="true"/>
          <p:nvPr/>
        </p:nvSpPr>
        <p:spPr>
          <a:xfrm rot="0">
            <a:off x="1651528" y="4202924"/>
            <a:ext cx="5421204" cy="148018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331B0D"/>
                </a:solidFill>
                <a:latin typeface="Open Sauce"/>
                <a:ea typeface="Open Sauce"/>
                <a:cs typeface="Open Sauce"/>
                <a:sym typeface="Open Sauce"/>
              </a:rPr>
              <a:t>The main Python s</a:t>
            </a:r>
            <a:r>
              <a:rPr lang="en-US" sz="2100" strike="noStrike" u="none">
                <a:solidFill>
                  <a:srgbClr val="331B0D"/>
                </a:solidFill>
                <a:latin typeface="Open Sauce"/>
                <a:ea typeface="Open Sauce"/>
                <a:cs typeface="Open Sauce"/>
                <a:sym typeface="Open Sauce"/>
              </a:rPr>
              <a:t>c</a:t>
            </a:r>
            <a:r>
              <a:rPr lang="en-US" sz="2100" strike="noStrike" u="none">
                <a:solidFill>
                  <a:srgbClr val="331B0D"/>
                </a:solidFill>
                <a:latin typeface="Open Sauce"/>
                <a:ea typeface="Open Sauce"/>
                <a:cs typeface="Open Sauce"/>
                <a:sym typeface="Open Sauce"/>
              </a:rPr>
              <a:t>rip</a:t>
            </a:r>
            <a:r>
              <a:rPr lang="en-US" sz="2100" strike="noStrike" u="none">
                <a:solidFill>
                  <a:srgbClr val="331B0D"/>
                </a:solidFill>
                <a:latin typeface="Open Sauce"/>
                <a:ea typeface="Open Sauce"/>
                <a:cs typeface="Open Sauce"/>
                <a:sym typeface="Open Sauce"/>
              </a:rPr>
              <a:t>t calcu</a:t>
            </a:r>
            <a:r>
              <a:rPr lang="en-US" sz="2100" strike="noStrike" u="none">
                <a:solidFill>
                  <a:srgbClr val="331B0D"/>
                </a:solidFill>
                <a:latin typeface="Open Sauce"/>
                <a:ea typeface="Open Sauce"/>
                <a:cs typeface="Open Sauce"/>
                <a:sym typeface="Open Sauce"/>
              </a:rPr>
              <a:t>lat</a:t>
            </a:r>
            <a:r>
              <a:rPr lang="en-US" sz="2100" strike="noStrike" u="none">
                <a:solidFill>
                  <a:srgbClr val="331B0D"/>
                </a:solidFill>
                <a:latin typeface="Open Sauce"/>
                <a:ea typeface="Open Sauce"/>
                <a:cs typeface="Open Sauce"/>
                <a:sym typeface="Open Sauce"/>
              </a:rPr>
              <a:t>es </a:t>
            </a:r>
            <a:r>
              <a:rPr lang="en-US" sz="2100" strike="noStrike" u="none">
                <a:solidFill>
                  <a:srgbClr val="331B0D"/>
                </a:solidFill>
                <a:latin typeface="Open Sauce"/>
                <a:ea typeface="Open Sauce"/>
                <a:cs typeface="Open Sauce"/>
                <a:sym typeface="Open Sauce"/>
              </a:rPr>
              <a:t>the</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requ</a:t>
            </a:r>
            <a:r>
              <a:rPr lang="en-US" sz="2100" strike="noStrike" u="none">
                <a:solidFill>
                  <a:srgbClr val="331B0D"/>
                </a:solidFill>
                <a:latin typeface="Open Sauce"/>
                <a:ea typeface="Open Sauce"/>
                <a:cs typeface="Open Sauce"/>
                <a:sym typeface="Open Sauce"/>
              </a:rPr>
              <a:t>ir</a:t>
            </a:r>
            <a:r>
              <a:rPr lang="en-US" sz="2100" strike="noStrike" u="none">
                <a:solidFill>
                  <a:srgbClr val="331B0D"/>
                </a:solidFill>
                <a:latin typeface="Open Sauce"/>
                <a:ea typeface="Open Sauce"/>
                <a:cs typeface="Open Sauce"/>
                <a:sym typeface="Open Sauce"/>
              </a:rPr>
              <a:t>ed t</a:t>
            </a:r>
            <a:r>
              <a:rPr lang="en-US" sz="2100" strike="noStrike" u="none">
                <a:solidFill>
                  <a:srgbClr val="331B0D"/>
                </a:solidFill>
                <a:latin typeface="Open Sauce"/>
                <a:ea typeface="Open Sauce"/>
                <a:cs typeface="Open Sauce"/>
                <a:sym typeface="Open Sauce"/>
              </a:rPr>
              <a:t>a</a:t>
            </a:r>
            <a:r>
              <a:rPr lang="en-US" sz="2100" strike="noStrike" u="none">
                <a:solidFill>
                  <a:srgbClr val="331B0D"/>
                </a:solidFill>
                <a:latin typeface="Open Sauce"/>
                <a:ea typeface="Open Sauce"/>
                <a:cs typeface="Open Sauce"/>
                <a:sym typeface="Open Sauce"/>
              </a:rPr>
              <a:t>rget ho</a:t>
            </a:r>
            <a:r>
              <a:rPr lang="en-US" sz="2100" strike="noStrike" u="none">
                <a:solidFill>
                  <a:srgbClr val="331B0D"/>
                </a:solidFill>
                <a:latin typeface="Open Sauce"/>
                <a:ea typeface="Open Sauce"/>
                <a:cs typeface="Open Sauce"/>
                <a:sym typeface="Open Sauce"/>
              </a:rPr>
              <a:t>le </a:t>
            </a:r>
            <a:r>
              <a:rPr lang="en-US" sz="2100" strike="noStrike" u="none">
                <a:solidFill>
                  <a:srgbClr val="331B0D"/>
                </a:solidFill>
                <a:latin typeface="Open Sauce"/>
                <a:ea typeface="Open Sauce"/>
                <a:cs typeface="Open Sauce"/>
                <a:sym typeface="Open Sauce"/>
              </a:rPr>
              <a:t>d</a:t>
            </a:r>
            <a:r>
              <a:rPr lang="en-US" sz="2100" strike="noStrike" u="none">
                <a:solidFill>
                  <a:srgbClr val="331B0D"/>
                </a:solidFill>
                <a:latin typeface="Open Sauce"/>
                <a:ea typeface="Open Sauce"/>
                <a:cs typeface="Open Sauce"/>
                <a:sym typeface="Open Sauce"/>
              </a:rPr>
              <a:t>iameter</a:t>
            </a:r>
            <a:r>
              <a:rPr lang="en-US" sz="2100" strike="noStrike" u="none">
                <a:solidFill>
                  <a:srgbClr val="331B0D"/>
                </a:solidFill>
                <a:latin typeface="Open Sauce"/>
                <a:ea typeface="Open Sauce"/>
                <a:cs typeface="Open Sauce"/>
                <a:sym typeface="Open Sauce"/>
              </a:rPr>
              <a:t> and wr</a:t>
            </a:r>
            <a:r>
              <a:rPr lang="en-US" sz="2100" strike="noStrike" u="none">
                <a:solidFill>
                  <a:srgbClr val="331B0D"/>
                </a:solidFill>
                <a:latin typeface="Open Sauce"/>
                <a:ea typeface="Open Sauce"/>
                <a:cs typeface="Open Sauce"/>
                <a:sym typeface="Open Sauce"/>
              </a:rPr>
              <a:t>i</a:t>
            </a:r>
            <a:r>
              <a:rPr lang="en-US" sz="2100" strike="noStrike" u="none">
                <a:solidFill>
                  <a:srgbClr val="331B0D"/>
                </a:solidFill>
                <a:latin typeface="Open Sauce"/>
                <a:ea typeface="Open Sauce"/>
                <a:cs typeface="Open Sauce"/>
                <a:sym typeface="Open Sauce"/>
              </a:rPr>
              <a:t>t</a:t>
            </a:r>
            <a:r>
              <a:rPr lang="en-US" sz="2100" strike="noStrike" u="none">
                <a:solidFill>
                  <a:srgbClr val="331B0D"/>
                </a:solidFill>
                <a:latin typeface="Open Sauce"/>
                <a:ea typeface="Open Sauce"/>
                <a:cs typeface="Open Sauce"/>
                <a:sym typeface="Open Sauce"/>
              </a:rPr>
              <a:t>es it to a local te</a:t>
            </a:r>
            <a:r>
              <a:rPr lang="en-US" sz="2100" strike="noStrike" u="none">
                <a:solidFill>
                  <a:srgbClr val="331B0D"/>
                </a:solidFill>
                <a:latin typeface="Open Sauce"/>
                <a:ea typeface="Open Sauce"/>
                <a:cs typeface="Open Sauce"/>
                <a:sym typeface="Open Sauce"/>
              </a:rPr>
              <a:t>x</a:t>
            </a:r>
            <a:r>
              <a:rPr lang="en-US" sz="2100" strike="noStrike" u="none">
                <a:solidFill>
                  <a:srgbClr val="331B0D"/>
                </a:solidFill>
                <a:latin typeface="Open Sauce"/>
                <a:ea typeface="Open Sauce"/>
                <a:cs typeface="Open Sauce"/>
                <a:sym typeface="Open Sauce"/>
              </a:rPr>
              <a:t>t</a:t>
            </a:r>
            <a:r>
              <a:rPr lang="en-US" sz="2100" strike="noStrike" u="none">
                <a:solidFill>
                  <a:srgbClr val="331B0D"/>
                </a:solidFill>
                <a:latin typeface="Open Sauce"/>
                <a:ea typeface="Open Sauce"/>
                <a:cs typeface="Open Sauce"/>
                <a:sym typeface="Open Sauce"/>
              </a:rPr>
              <a:t> file, </a:t>
            </a:r>
            <a:r>
              <a:rPr lang="en-US" sz="2100" strike="noStrike" u="none">
                <a:solidFill>
                  <a:srgbClr val="331B0D"/>
                </a:solidFill>
                <a:latin typeface="Open Sauce"/>
                <a:ea typeface="Open Sauce"/>
                <a:cs typeface="Open Sauce"/>
                <a:sym typeface="Open Sauce"/>
              </a:rPr>
              <a:t>a</a:t>
            </a:r>
            <a:r>
              <a:rPr lang="en-US" sz="2100" strike="noStrike" u="none">
                <a:solidFill>
                  <a:srgbClr val="331B0D"/>
                </a:solidFill>
                <a:latin typeface="Open Sauce"/>
                <a:ea typeface="Open Sauce"/>
                <a:cs typeface="Open Sauce"/>
                <a:sym typeface="Open Sauce"/>
              </a:rPr>
              <a:t>cti</a:t>
            </a:r>
            <a:r>
              <a:rPr lang="en-US" sz="2100" strike="noStrike" u="none">
                <a:solidFill>
                  <a:srgbClr val="331B0D"/>
                </a:solidFill>
                <a:latin typeface="Open Sauce"/>
                <a:ea typeface="Open Sauce"/>
                <a:cs typeface="Open Sauce"/>
                <a:sym typeface="Open Sauce"/>
              </a:rPr>
              <a:t>n</a:t>
            </a:r>
            <a:r>
              <a:rPr lang="en-US" sz="2100" strike="noStrike" u="none">
                <a:solidFill>
                  <a:srgbClr val="331B0D"/>
                </a:solidFill>
                <a:latin typeface="Open Sauce"/>
                <a:ea typeface="Open Sauce"/>
                <a:cs typeface="Open Sauce"/>
                <a:sym typeface="Open Sauce"/>
              </a:rPr>
              <a:t>g</a:t>
            </a:r>
            <a:r>
              <a:rPr lang="en-US" sz="2100" strike="noStrike" u="none">
                <a:solidFill>
                  <a:srgbClr val="331B0D"/>
                </a:solidFill>
                <a:latin typeface="Open Sauce"/>
                <a:ea typeface="Open Sauce"/>
                <a:cs typeface="Open Sauce"/>
                <a:sym typeface="Open Sauce"/>
              </a:rPr>
              <a:t> as the "brain</a:t>
            </a:r>
            <a:r>
              <a:rPr lang="en-US" sz="2100" strike="noStrike" u="none">
                <a:solidFill>
                  <a:srgbClr val="331B0D"/>
                </a:solidFill>
                <a:latin typeface="Open Sauce"/>
                <a:ea typeface="Open Sauce"/>
                <a:cs typeface="Open Sauce"/>
                <a:sym typeface="Open Sauce"/>
              </a:rPr>
              <a:t>" of </a:t>
            </a:r>
            <a:r>
              <a:rPr lang="en-US" sz="2100" strike="noStrike" u="none">
                <a:solidFill>
                  <a:srgbClr val="331B0D"/>
                </a:solidFill>
                <a:latin typeface="Open Sauce"/>
                <a:ea typeface="Open Sauce"/>
                <a:cs typeface="Open Sauce"/>
                <a:sym typeface="Open Sauce"/>
              </a:rPr>
              <a:t>t</a:t>
            </a:r>
            <a:r>
              <a:rPr lang="en-US" sz="2100" strike="noStrike" u="none">
                <a:solidFill>
                  <a:srgbClr val="331B0D"/>
                </a:solidFill>
                <a:latin typeface="Open Sauce"/>
                <a:ea typeface="Open Sauce"/>
                <a:cs typeface="Open Sauce"/>
                <a:sym typeface="Open Sauce"/>
              </a:rPr>
              <a:t>he</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o</a:t>
            </a:r>
            <a:r>
              <a:rPr lang="en-US" sz="2100" strike="noStrike" u="none">
                <a:solidFill>
                  <a:srgbClr val="331B0D"/>
                </a:solidFill>
                <a:latin typeface="Open Sauce"/>
                <a:ea typeface="Open Sauce"/>
                <a:cs typeface="Open Sauce"/>
                <a:sym typeface="Open Sauce"/>
              </a:rPr>
              <a:t>p</a:t>
            </a:r>
            <a:r>
              <a:rPr lang="en-US" sz="2100" strike="noStrike" u="none">
                <a:solidFill>
                  <a:srgbClr val="331B0D"/>
                </a:solidFill>
                <a:latin typeface="Open Sauce"/>
                <a:ea typeface="Open Sauce"/>
                <a:cs typeface="Open Sauce"/>
                <a:sym typeface="Open Sauce"/>
              </a:rPr>
              <a:t>er</a:t>
            </a:r>
            <a:r>
              <a:rPr lang="en-US" sz="2100" strike="noStrike" u="none">
                <a:solidFill>
                  <a:srgbClr val="331B0D"/>
                </a:solidFill>
                <a:latin typeface="Open Sauce"/>
                <a:ea typeface="Open Sauce"/>
                <a:cs typeface="Open Sauce"/>
                <a:sym typeface="Open Sauce"/>
              </a:rPr>
              <a:t>a</a:t>
            </a:r>
            <a:r>
              <a:rPr lang="en-US" sz="2100" strike="noStrike" u="none">
                <a:solidFill>
                  <a:srgbClr val="331B0D"/>
                </a:solidFill>
                <a:latin typeface="Open Sauce"/>
                <a:ea typeface="Open Sauce"/>
                <a:cs typeface="Open Sauce"/>
                <a:sym typeface="Open Sauce"/>
              </a:rPr>
              <a:t>t</a:t>
            </a:r>
            <a:r>
              <a:rPr lang="en-US" sz="2100" strike="noStrike" u="none">
                <a:solidFill>
                  <a:srgbClr val="331B0D"/>
                </a:solidFill>
                <a:latin typeface="Open Sauce"/>
                <a:ea typeface="Open Sauce"/>
                <a:cs typeface="Open Sauce"/>
                <a:sym typeface="Open Sauce"/>
              </a:rPr>
              <a:t>ion.</a:t>
            </a:r>
          </a:p>
        </p:txBody>
      </p:sp>
      <p:sp>
        <p:nvSpPr>
          <p:cNvPr name="AutoShape 7" id="7"/>
          <p:cNvSpPr/>
          <p:nvPr/>
        </p:nvSpPr>
        <p:spPr>
          <a:xfrm>
            <a:off x="1028700" y="5715000"/>
            <a:ext cx="16230600" cy="0"/>
          </a:xfrm>
          <a:prstGeom prst="line">
            <a:avLst/>
          </a:prstGeom>
          <a:ln cap="flat" w="76200">
            <a:solidFill>
              <a:srgbClr val="8C7753"/>
            </a:solidFill>
            <a:prstDash val="solid"/>
            <a:headEnd type="none" len="sm" w="sm"/>
            <a:tailEnd type="arrow" len="sm" w="med"/>
          </a:ln>
        </p:spPr>
      </p:sp>
      <p:sp>
        <p:nvSpPr>
          <p:cNvPr name="AutoShape 8" id="8"/>
          <p:cNvSpPr/>
          <p:nvPr/>
        </p:nvSpPr>
        <p:spPr>
          <a:xfrm>
            <a:off x="1331126" y="3774335"/>
            <a:ext cx="0" cy="1940701"/>
          </a:xfrm>
          <a:prstGeom prst="line">
            <a:avLst/>
          </a:prstGeom>
          <a:ln cap="rnd" w="19050">
            <a:solidFill>
              <a:srgbClr val="8C7753"/>
            </a:solidFill>
            <a:prstDash val="solid"/>
            <a:headEnd type="oval" len="lg" w="lg"/>
            <a:tailEnd type="none" len="sm" w="sm"/>
          </a:ln>
        </p:spPr>
      </p:sp>
      <p:sp>
        <p:nvSpPr>
          <p:cNvPr name="TextBox 9" id="9"/>
          <p:cNvSpPr txBox="true"/>
          <p:nvPr/>
        </p:nvSpPr>
        <p:spPr>
          <a:xfrm rot="0">
            <a:off x="4757823" y="6715125"/>
            <a:ext cx="2967865" cy="405765"/>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8C7753"/>
                </a:solidFill>
                <a:latin typeface="Open Sauce"/>
                <a:ea typeface="Open Sauce"/>
                <a:cs typeface="Open Sauce"/>
                <a:sym typeface="Open Sauce"/>
              </a:rPr>
              <a:t>Ide</a:t>
            </a:r>
            <a:r>
              <a:rPr lang="en-US" sz="2400" strike="noStrike" u="none">
                <a:solidFill>
                  <a:srgbClr val="8C7753"/>
                </a:solidFill>
                <a:latin typeface="Open Sauce"/>
                <a:ea typeface="Open Sauce"/>
                <a:cs typeface="Open Sauce"/>
                <a:sym typeface="Open Sauce"/>
              </a:rPr>
              <a:t>a</a:t>
            </a:r>
            <a:r>
              <a:rPr lang="en-US" sz="2400" strike="noStrike" u="none">
                <a:solidFill>
                  <a:srgbClr val="8C7753"/>
                </a:solidFill>
                <a:latin typeface="Open Sauce"/>
                <a:ea typeface="Open Sauce"/>
                <a:cs typeface="Open Sauce"/>
                <a:sym typeface="Open Sauce"/>
              </a:rPr>
              <a:t>tion</a:t>
            </a:r>
          </a:p>
        </p:txBody>
      </p:sp>
      <p:sp>
        <p:nvSpPr>
          <p:cNvPr name="TextBox 10" id="10"/>
          <p:cNvSpPr txBox="true"/>
          <p:nvPr/>
        </p:nvSpPr>
        <p:spPr>
          <a:xfrm rot="0">
            <a:off x="4757823" y="7341870"/>
            <a:ext cx="5440911" cy="148018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331B0D"/>
                </a:solidFill>
                <a:latin typeface="Open Sauce"/>
                <a:ea typeface="Open Sauce"/>
                <a:cs typeface="Open Sauce"/>
                <a:sym typeface="Open Sauce"/>
              </a:rPr>
              <a:t>An </a:t>
            </a:r>
            <a:r>
              <a:rPr lang="en-US" sz="2100" strike="noStrike" u="none">
                <a:solidFill>
                  <a:srgbClr val="331B0D"/>
                </a:solidFill>
                <a:latin typeface="Open Sauce"/>
                <a:ea typeface="Open Sauce"/>
                <a:cs typeface="Open Sauce"/>
                <a:sym typeface="Open Sauce"/>
              </a:rPr>
              <a:t>int</a:t>
            </a:r>
            <a:r>
              <a:rPr lang="en-US" sz="2100" strike="noStrike" u="none">
                <a:solidFill>
                  <a:srgbClr val="331B0D"/>
                </a:solidFill>
                <a:latin typeface="Open Sauce"/>
                <a:ea typeface="Open Sauce"/>
                <a:cs typeface="Open Sauce"/>
                <a:sym typeface="Open Sauce"/>
              </a:rPr>
              <a:t>e</a:t>
            </a:r>
            <a:r>
              <a:rPr lang="en-US" sz="2100" strike="noStrike" u="none">
                <a:solidFill>
                  <a:srgbClr val="331B0D"/>
                </a:solidFill>
                <a:latin typeface="Open Sauce"/>
                <a:ea typeface="Open Sauce"/>
                <a:cs typeface="Open Sauce"/>
                <a:sym typeface="Open Sauce"/>
              </a:rPr>
              <a:t>rn</a:t>
            </a:r>
            <a:r>
              <a:rPr lang="en-US" sz="2100" strike="noStrike" u="none">
                <a:solidFill>
                  <a:srgbClr val="331B0D"/>
                </a:solidFill>
                <a:latin typeface="Open Sauce"/>
                <a:ea typeface="Open Sauce"/>
                <a:cs typeface="Open Sauce"/>
                <a:sym typeface="Open Sauce"/>
              </a:rPr>
              <a:t>al API</a:t>
            </a:r>
            <a:r>
              <a:rPr lang="en-US" sz="2100" strike="noStrike" u="none">
                <a:solidFill>
                  <a:srgbClr val="331B0D"/>
                </a:solidFill>
                <a:latin typeface="Open Sauce"/>
                <a:ea typeface="Open Sauce"/>
                <a:cs typeface="Open Sauce"/>
                <a:sym typeface="Open Sauce"/>
              </a:rPr>
              <a:t> s</a:t>
            </a:r>
            <a:r>
              <a:rPr lang="en-US" sz="2100" strike="noStrike" u="none">
                <a:solidFill>
                  <a:srgbClr val="331B0D"/>
                </a:solidFill>
                <a:latin typeface="Open Sauce"/>
                <a:ea typeface="Open Sauce"/>
                <a:cs typeface="Open Sauce"/>
                <a:sym typeface="Open Sauce"/>
              </a:rPr>
              <a:t>cript r</a:t>
            </a:r>
            <a:r>
              <a:rPr lang="en-US" sz="2100" strike="noStrike" u="none">
                <a:solidFill>
                  <a:srgbClr val="331B0D"/>
                </a:solidFill>
                <a:latin typeface="Open Sauce"/>
                <a:ea typeface="Open Sauce"/>
                <a:cs typeface="Open Sauce"/>
                <a:sym typeface="Open Sauce"/>
              </a:rPr>
              <a:t>e</a:t>
            </a:r>
            <a:r>
              <a:rPr lang="en-US" sz="2100" strike="noStrike" u="none">
                <a:solidFill>
                  <a:srgbClr val="331B0D"/>
                </a:solidFill>
                <a:latin typeface="Open Sauce"/>
                <a:ea typeface="Open Sauce"/>
                <a:cs typeface="Open Sauce"/>
                <a:sym typeface="Open Sauce"/>
              </a:rPr>
              <a:t>ad</a:t>
            </a:r>
            <a:r>
              <a:rPr lang="en-US" sz="2100" strike="noStrike" u="none">
                <a:solidFill>
                  <a:srgbClr val="331B0D"/>
                </a:solidFill>
                <a:latin typeface="Open Sauce"/>
                <a:ea typeface="Open Sauce"/>
                <a:cs typeface="Open Sauce"/>
                <a:sym typeface="Open Sauce"/>
              </a:rPr>
              <a:t>s the text file, updates </a:t>
            </a:r>
            <a:r>
              <a:rPr lang="en-US" sz="2100" strike="noStrike" u="none">
                <a:solidFill>
                  <a:srgbClr val="331B0D"/>
                </a:solidFill>
                <a:latin typeface="Open Sauce"/>
                <a:ea typeface="Open Sauce"/>
                <a:cs typeface="Open Sauce"/>
                <a:sym typeface="Open Sauce"/>
              </a:rPr>
              <a:t>the</a:t>
            </a:r>
            <a:r>
              <a:rPr lang="en-US" sz="2100" strike="noStrike" u="none">
                <a:solidFill>
                  <a:srgbClr val="331B0D"/>
                </a:solidFill>
                <a:latin typeface="Open Sauce"/>
                <a:ea typeface="Open Sauce"/>
                <a:cs typeface="Open Sauce"/>
                <a:sym typeface="Open Sauce"/>
              </a:rPr>
              <a:t> p</a:t>
            </a:r>
            <a:r>
              <a:rPr lang="en-US" sz="2100" strike="noStrike" u="none">
                <a:solidFill>
                  <a:srgbClr val="331B0D"/>
                </a:solidFill>
                <a:latin typeface="Open Sauce"/>
                <a:ea typeface="Open Sauce"/>
                <a:cs typeface="Open Sauce"/>
                <a:sym typeface="Open Sauce"/>
              </a:rPr>
              <a:t>arame</a:t>
            </a:r>
            <a:r>
              <a:rPr lang="en-US" sz="2100" strike="noStrike" u="none">
                <a:solidFill>
                  <a:srgbClr val="331B0D"/>
                </a:solidFill>
                <a:latin typeface="Open Sauce"/>
                <a:ea typeface="Open Sauce"/>
                <a:cs typeface="Open Sauce"/>
                <a:sym typeface="Open Sauce"/>
              </a:rPr>
              <a:t>t</a:t>
            </a:r>
            <a:r>
              <a:rPr lang="en-US" sz="2100" strike="noStrike" u="none">
                <a:solidFill>
                  <a:srgbClr val="331B0D"/>
                </a:solidFill>
                <a:latin typeface="Open Sauce"/>
                <a:ea typeface="Open Sauce"/>
                <a:cs typeface="Open Sauce"/>
                <a:sym typeface="Open Sauce"/>
              </a:rPr>
              <a:t>ric 2D</a:t>
            </a:r>
            <a:r>
              <a:rPr lang="en-US" sz="2100" strike="noStrike" u="none">
                <a:solidFill>
                  <a:srgbClr val="331B0D"/>
                </a:solidFill>
                <a:latin typeface="Open Sauce"/>
                <a:ea typeface="Open Sauce"/>
                <a:cs typeface="Open Sauce"/>
                <a:sym typeface="Open Sauce"/>
              </a:rPr>
              <a:t> sketch</a:t>
            </a:r>
            <a:r>
              <a:rPr lang="en-US" sz="2100" strike="noStrike" u="none">
                <a:solidFill>
                  <a:srgbClr val="331B0D"/>
                </a:solidFill>
                <a:latin typeface="Open Sauce"/>
                <a:ea typeface="Open Sauce"/>
                <a:cs typeface="Open Sauce"/>
                <a:sym typeface="Open Sauce"/>
              </a:rPr>
              <a:t>, regenerat</a:t>
            </a:r>
            <a:r>
              <a:rPr lang="en-US" sz="2100" strike="noStrike" u="none">
                <a:solidFill>
                  <a:srgbClr val="331B0D"/>
                </a:solidFill>
                <a:latin typeface="Open Sauce"/>
                <a:ea typeface="Open Sauce"/>
                <a:cs typeface="Open Sauce"/>
                <a:sym typeface="Open Sauce"/>
              </a:rPr>
              <a:t>es the</a:t>
            </a:r>
            <a:r>
              <a:rPr lang="en-US" sz="2100" strike="noStrike" u="none">
                <a:solidFill>
                  <a:srgbClr val="331B0D"/>
                </a:solidFill>
                <a:latin typeface="Open Sauce"/>
                <a:ea typeface="Open Sauce"/>
                <a:cs typeface="Open Sauce"/>
                <a:sym typeface="Open Sauce"/>
              </a:rPr>
              <a:t> so</a:t>
            </a:r>
            <a:r>
              <a:rPr lang="en-US" sz="2100" strike="noStrike" u="none">
                <a:solidFill>
                  <a:srgbClr val="331B0D"/>
                </a:solidFill>
                <a:latin typeface="Open Sauce"/>
                <a:ea typeface="Open Sauce"/>
                <a:cs typeface="Open Sauce"/>
                <a:sym typeface="Open Sauce"/>
              </a:rPr>
              <a:t>l</a:t>
            </a:r>
            <a:r>
              <a:rPr lang="en-US" sz="2100" strike="noStrike" u="none">
                <a:solidFill>
                  <a:srgbClr val="331B0D"/>
                </a:solidFill>
                <a:latin typeface="Open Sauce"/>
                <a:ea typeface="Open Sauce"/>
                <a:cs typeface="Open Sauce"/>
                <a:sym typeface="Open Sauce"/>
              </a:rPr>
              <a:t>i</a:t>
            </a:r>
            <a:r>
              <a:rPr lang="en-US" sz="2100" strike="noStrike" u="none">
                <a:solidFill>
                  <a:srgbClr val="331B0D"/>
                </a:solidFill>
                <a:latin typeface="Open Sauce"/>
                <a:ea typeface="Open Sauce"/>
                <a:cs typeface="Open Sauce"/>
                <a:sym typeface="Open Sauce"/>
              </a:rPr>
              <a:t>d </a:t>
            </a:r>
            <a:r>
              <a:rPr lang="en-US" sz="2100" strike="noStrike" u="none">
                <a:solidFill>
                  <a:srgbClr val="331B0D"/>
                </a:solidFill>
                <a:latin typeface="Open Sauce"/>
                <a:ea typeface="Open Sauce"/>
                <a:cs typeface="Open Sauce"/>
                <a:sym typeface="Open Sauce"/>
              </a:rPr>
              <a:t>body,</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a</a:t>
            </a:r>
            <a:r>
              <a:rPr lang="en-US" sz="2100" strike="noStrike" u="none">
                <a:solidFill>
                  <a:srgbClr val="331B0D"/>
                </a:solidFill>
                <a:latin typeface="Open Sauce"/>
                <a:ea typeface="Open Sauce"/>
                <a:cs typeface="Open Sauce"/>
                <a:sym typeface="Open Sauce"/>
              </a:rPr>
              <a:t>n</a:t>
            </a:r>
            <a:r>
              <a:rPr lang="en-US" sz="2100" strike="noStrike" u="none">
                <a:solidFill>
                  <a:srgbClr val="331B0D"/>
                </a:solidFill>
                <a:latin typeface="Open Sauce"/>
                <a:ea typeface="Open Sauce"/>
                <a:cs typeface="Open Sauce"/>
                <a:sym typeface="Open Sauce"/>
              </a:rPr>
              <a:t>d</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exp</a:t>
            </a:r>
            <a:r>
              <a:rPr lang="en-US" sz="2100" strike="noStrike" u="none">
                <a:solidFill>
                  <a:srgbClr val="331B0D"/>
                </a:solidFill>
                <a:latin typeface="Open Sauce"/>
                <a:ea typeface="Open Sauce"/>
                <a:cs typeface="Open Sauce"/>
                <a:sym typeface="Open Sauce"/>
              </a:rPr>
              <a:t>orts a f</a:t>
            </a:r>
            <a:r>
              <a:rPr lang="en-US" sz="2100" strike="noStrike" u="none">
                <a:solidFill>
                  <a:srgbClr val="331B0D"/>
                </a:solidFill>
                <a:latin typeface="Open Sauce"/>
                <a:ea typeface="Open Sauce"/>
                <a:cs typeface="Open Sauce"/>
                <a:sym typeface="Open Sauce"/>
              </a:rPr>
              <a:t>re</a:t>
            </a:r>
            <a:r>
              <a:rPr lang="en-US" sz="2100" strike="noStrike" u="none">
                <a:solidFill>
                  <a:srgbClr val="331B0D"/>
                </a:solidFill>
                <a:latin typeface="Open Sauce"/>
                <a:ea typeface="Open Sauce"/>
                <a:cs typeface="Open Sauce"/>
                <a:sym typeface="Open Sauce"/>
              </a:rPr>
              <a:t>sh 3D STEP file.</a:t>
            </a:r>
          </a:p>
        </p:txBody>
      </p:sp>
      <p:sp>
        <p:nvSpPr>
          <p:cNvPr name="AutoShape 11" id="11"/>
          <p:cNvSpPr/>
          <p:nvPr/>
        </p:nvSpPr>
        <p:spPr>
          <a:xfrm>
            <a:off x="4437421" y="5703712"/>
            <a:ext cx="0" cy="1940701"/>
          </a:xfrm>
          <a:prstGeom prst="line">
            <a:avLst/>
          </a:prstGeom>
          <a:ln cap="rnd" w="19050">
            <a:solidFill>
              <a:srgbClr val="8C7753"/>
            </a:solidFill>
            <a:prstDash val="solid"/>
            <a:headEnd type="none" len="sm" w="sm"/>
            <a:tailEnd type="oval" len="lg" w="lg"/>
          </a:ln>
        </p:spPr>
      </p:sp>
      <p:sp>
        <p:nvSpPr>
          <p:cNvPr name="AutoShape 12" id="12"/>
          <p:cNvSpPr/>
          <p:nvPr/>
        </p:nvSpPr>
        <p:spPr>
          <a:xfrm>
            <a:off x="8196993" y="3774335"/>
            <a:ext cx="0" cy="1940701"/>
          </a:xfrm>
          <a:prstGeom prst="line">
            <a:avLst/>
          </a:prstGeom>
          <a:ln cap="rnd" w="19050">
            <a:solidFill>
              <a:srgbClr val="8C7753"/>
            </a:solidFill>
            <a:prstDash val="solid"/>
            <a:headEnd type="oval" len="lg" w="lg"/>
            <a:tailEnd type="none" len="sm" w="sm"/>
          </a:ln>
        </p:spPr>
      </p:sp>
      <p:sp>
        <p:nvSpPr>
          <p:cNvPr name="AutoShape 13" id="13"/>
          <p:cNvSpPr/>
          <p:nvPr/>
        </p:nvSpPr>
        <p:spPr>
          <a:xfrm>
            <a:off x="11303288" y="5703712"/>
            <a:ext cx="0" cy="1940701"/>
          </a:xfrm>
          <a:prstGeom prst="line">
            <a:avLst/>
          </a:prstGeom>
          <a:ln cap="rnd" w="19050">
            <a:solidFill>
              <a:srgbClr val="8C7753"/>
            </a:solidFill>
            <a:prstDash val="solid"/>
            <a:headEnd type="none" len="sm" w="sm"/>
            <a:tailEnd type="oval" len="lg" w="lg"/>
          </a:ln>
        </p:spPr>
      </p:sp>
      <p:sp>
        <p:nvSpPr>
          <p:cNvPr name="AutoShape 14" id="14"/>
          <p:cNvSpPr/>
          <p:nvPr/>
        </p:nvSpPr>
        <p:spPr>
          <a:xfrm>
            <a:off x="15070109" y="3774335"/>
            <a:ext cx="0" cy="1940701"/>
          </a:xfrm>
          <a:prstGeom prst="line">
            <a:avLst/>
          </a:prstGeom>
          <a:ln cap="rnd" w="19050">
            <a:solidFill>
              <a:srgbClr val="8C7753"/>
            </a:solidFill>
            <a:prstDash val="solid"/>
            <a:headEnd type="oval" len="lg" w="lg"/>
            <a:tailEnd type="none" len="sm" w="sm"/>
          </a:ln>
        </p:spPr>
      </p:sp>
      <p:sp>
        <p:nvSpPr>
          <p:cNvPr name="TextBox 15" id="15"/>
          <p:cNvSpPr txBox="true"/>
          <p:nvPr/>
        </p:nvSpPr>
        <p:spPr>
          <a:xfrm rot="0">
            <a:off x="8520843" y="3576179"/>
            <a:ext cx="2967865" cy="405765"/>
          </a:xfrm>
          <a:prstGeom prst="rect">
            <a:avLst/>
          </a:prstGeom>
        </p:spPr>
        <p:txBody>
          <a:bodyPr anchor="t" rtlCol="false" tIns="0" lIns="0" bIns="0" rIns="0">
            <a:spAutoFit/>
          </a:bodyPr>
          <a:lstStyle/>
          <a:p>
            <a:pPr algn="l" marL="0" indent="0" lvl="0">
              <a:lnSpc>
                <a:spcPts val="3359"/>
              </a:lnSpc>
              <a:spcBef>
                <a:spcPct val="0"/>
              </a:spcBef>
            </a:pPr>
            <a:r>
              <a:rPr lang="en-US" sz="2400" strike="noStrike" u="none">
                <a:solidFill>
                  <a:srgbClr val="8C7753"/>
                </a:solidFill>
                <a:latin typeface="Open Sauce"/>
                <a:ea typeface="Open Sauce"/>
                <a:cs typeface="Open Sauce"/>
                <a:sym typeface="Open Sauce"/>
              </a:rPr>
              <a:t>P</a:t>
            </a:r>
            <a:r>
              <a:rPr lang="en-US" sz="2400" strike="noStrike" u="none">
                <a:solidFill>
                  <a:srgbClr val="8C7753"/>
                </a:solidFill>
                <a:latin typeface="Open Sauce"/>
                <a:ea typeface="Open Sauce"/>
                <a:cs typeface="Open Sauce"/>
                <a:sym typeface="Open Sauce"/>
              </a:rPr>
              <a:t>rototyping</a:t>
            </a:r>
          </a:p>
        </p:txBody>
      </p:sp>
      <p:sp>
        <p:nvSpPr>
          <p:cNvPr name="TextBox 16" id="16"/>
          <p:cNvSpPr txBox="true"/>
          <p:nvPr/>
        </p:nvSpPr>
        <p:spPr>
          <a:xfrm rot="0">
            <a:off x="8520843" y="4202924"/>
            <a:ext cx="5705112" cy="148018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331B0D"/>
                </a:solidFill>
                <a:latin typeface="Open Sauce"/>
                <a:ea typeface="Open Sauce"/>
                <a:cs typeface="Open Sauce"/>
                <a:sym typeface="Open Sauce"/>
              </a:rPr>
              <a:t>Python GUI automation t</a:t>
            </a:r>
            <a:r>
              <a:rPr lang="en-US" sz="2100" strike="noStrike" u="none">
                <a:solidFill>
                  <a:srgbClr val="331B0D"/>
                </a:solidFill>
                <a:latin typeface="Open Sauce"/>
                <a:ea typeface="Open Sauce"/>
                <a:cs typeface="Open Sauce"/>
                <a:sym typeface="Open Sauce"/>
              </a:rPr>
              <a:t>a</a:t>
            </a:r>
            <a:r>
              <a:rPr lang="en-US" sz="2100" strike="noStrike" u="none">
                <a:solidFill>
                  <a:srgbClr val="331B0D"/>
                </a:solidFill>
                <a:latin typeface="Open Sauce"/>
                <a:ea typeface="Open Sauce"/>
                <a:cs typeface="Open Sauce"/>
                <a:sym typeface="Open Sauce"/>
              </a:rPr>
              <a:t>k</a:t>
            </a:r>
            <a:r>
              <a:rPr lang="en-US" sz="2100" strike="noStrike" u="none">
                <a:solidFill>
                  <a:srgbClr val="331B0D"/>
                </a:solidFill>
                <a:latin typeface="Open Sauce"/>
                <a:ea typeface="Open Sauce"/>
                <a:cs typeface="Open Sauce"/>
                <a:sym typeface="Open Sauce"/>
              </a:rPr>
              <a:t>es </a:t>
            </a:r>
            <a:r>
              <a:rPr lang="en-US" sz="2100" strike="noStrike" u="none">
                <a:solidFill>
                  <a:srgbClr val="331B0D"/>
                </a:solidFill>
                <a:latin typeface="Open Sauce"/>
                <a:ea typeface="Open Sauce"/>
                <a:cs typeface="Open Sauce"/>
                <a:sym typeface="Open Sauce"/>
              </a:rPr>
              <a:t>co</a:t>
            </a:r>
            <a:r>
              <a:rPr lang="en-US" sz="2100" strike="noStrike" u="none">
                <a:solidFill>
                  <a:srgbClr val="331B0D"/>
                </a:solidFill>
                <a:latin typeface="Open Sauce"/>
                <a:ea typeface="Open Sauce"/>
                <a:cs typeface="Open Sauce"/>
                <a:sym typeface="Open Sauce"/>
              </a:rPr>
              <a:t>n</a:t>
            </a:r>
            <a:r>
              <a:rPr lang="en-US" sz="2100" strike="noStrike" u="none">
                <a:solidFill>
                  <a:srgbClr val="331B0D"/>
                </a:solidFill>
                <a:latin typeface="Open Sauce"/>
                <a:ea typeface="Open Sauce"/>
                <a:cs typeface="Open Sauce"/>
                <a:sym typeface="Open Sauce"/>
              </a:rPr>
              <a:t>trol of the</a:t>
            </a:r>
            <a:r>
              <a:rPr lang="en-US" sz="2100" strike="noStrike" u="none">
                <a:solidFill>
                  <a:srgbClr val="331B0D"/>
                </a:solidFill>
                <a:latin typeface="Open Sauce"/>
                <a:ea typeface="Open Sauce"/>
                <a:cs typeface="Open Sauce"/>
                <a:sym typeface="Open Sauce"/>
              </a:rPr>
              <a:t> mous</a:t>
            </a:r>
            <a:r>
              <a:rPr lang="en-US" sz="2100" strike="noStrike" u="none">
                <a:solidFill>
                  <a:srgbClr val="331B0D"/>
                </a:solidFill>
                <a:latin typeface="Open Sauce"/>
                <a:ea typeface="Open Sauce"/>
                <a:cs typeface="Open Sauce"/>
                <a:sym typeface="Open Sauce"/>
              </a:rPr>
              <a:t>e</a:t>
            </a:r>
            <a:r>
              <a:rPr lang="en-US" sz="2100" strike="noStrike" u="none">
                <a:solidFill>
                  <a:srgbClr val="331B0D"/>
                </a:solidFill>
                <a:latin typeface="Open Sauce"/>
                <a:ea typeface="Open Sauce"/>
                <a:cs typeface="Open Sauce"/>
                <a:sym typeface="Open Sauce"/>
              </a:rPr>
              <a:t> to u</a:t>
            </a:r>
            <a:r>
              <a:rPr lang="en-US" sz="2100" strike="noStrike" u="none">
                <a:solidFill>
                  <a:srgbClr val="331B0D"/>
                </a:solidFill>
                <a:latin typeface="Open Sauce"/>
                <a:ea typeface="Open Sauce"/>
                <a:cs typeface="Open Sauce"/>
                <a:sym typeface="Open Sauce"/>
              </a:rPr>
              <a:t>pd</a:t>
            </a:r>
            <a:r>
              <a:rPr lang="en-US" sz="2100" strike="noStrike" u="none">
                <a:solidFill>
                  <a:srgbClr val="331B0D"/>
                </a:solidFill>
                <a:latin typeface="Open Sauce"/>
                <a:ea typeface="Open Sauce"/>
                <a:cs typeface="Open Sauce"/>
                <a:sym typeface="Open Sauce"/>
              </a:rPr>
              <a:t>a</a:t>
            </a:r>
            <a:r>
              <a:rPr lang="en-US" sz="2100" strike="noStrike" u="none">
                <a:solidFill>
                  <a:srgbClr val="331B0D"/>
                </a:solidFill>
                <a:latin typeface="Open Sauce"/>
                <a:ea typeface="Open Sauce"/>
                <a:cs typeface="Open Sauce"/>
                <a:sym typeface="Open Sauce"/>
              </a:rPr>
              <a:t>t</a:t>
            </a:r>
            <a:r>
              <a:rPr lang="en-US" sz="2100" strike="noStrike" u="none">
                <a:solidFill>
                  <a:srgbClr val="331B0D"/>
                </a:solidFill>
                <a:latin typeface="Open Sauce"/>
                <a:ea typeface="Open Sauce"/>
                <a:cs typeface="Open Sauce"/>
                <a:sym typeface="Open Sauce"/>
              </a:rPr>
              <a:t>e the </a:t>
            </a:r>
            <a:r>
              <a:rPr lang="en-US" sz="2100" strike="noStrike" u="none">
                <a:solidFill>
                  <a:srgbClr val="331B0D"/>
                </a:solidFill>
                <a:latin typeface="Open Sauce"/>
                <a:ea typeface="Open Sauce"/>
                <a:cs typeface="Open Sauce"/>
                <a:sym typeface="Open Sauce"/>
              </a:rPr>
              <a:t>ANSYS g</a:t>
            </a:r>
            <a:r>
              <a:rPr lang="en-US" sz="2100" strike="noStrike" u="none">
                <a:solidFill>
                  <a:srgbClr val="331B0D"/>
                </a:solidFill>
                <a:latin typeface="Open Sauce"/>
                <a:ea typeface="Open Sauce"/>
                <a:cs typeface="Open Sauce"/>
                <a:sym typeface="Open Sauce"/>
              </a:rPr>
              <a:t>e</a:t>
            </a:r>
            <a:r>
              <a:rPr lang="en-US" sz="2100" strike="noStrike" u="none">
                <a:solidFill>
                  <a:srgbClr val="331B0D"/>
                </a:solidFill>
                <a:latin typeface="Open Sauce"/>
                <a:ea typeface="Open Sauce"/>
                <a:cs typeface="Open Sauce"/>
                <a:sym typeface="Open Sauce"/>
              </a:rPr>
              <a:t>omet</a:t>
            </a:r>
            <a:r>
              <a:rPr lang="en-US" sz="2100" strike="noStrike" u="none">
                <a:solidFill>
                  <a:srgbClr val="331B0D"/>
                </a:solidFill>
                <a:latin typeface="Open Sauce"/>
                <a:ea typeface="Open Sauce"/>
                <a:cs typeface="Open Sauce"/>
                <a:sym typeface="Open Sauce"/>
              </a:rPr>
              <a:t>r</a:t>
            </a:r>
            <a:r>
              <a:rPr lang="en-US" sz="2100" strike="noStrike" u="none">
                <a:solidFill>
                  <a:srgbClr val="331B0D"/>
                </a:solidFill>
                <a:latin typeface="Open Sauce"/>
                <a:ea typeface="Open Sauce"/>
                <a:cs typeface="Open Sauce"/>
                <a:sym typeface="Open Sauce"/>
              </a:rPr>
              <a:t>y</a:t>
            </a:r>
            <a:r>
              <a:rPr lang="en-US" sz="2100" strike="noStrike" u="none">
                <a:solidFill>
                  <a:srgbClr val="331B0D"/>
                </a:solidFill>
                <a:latin typeface="Open Sauce"/>
                <a:ea typeface="Open Sauce"/>
                <a:cs typeface="Open Sauce"/>
                <a:sym typeface="Open Sauce"/>
              </a:rPr>
              <a:t> from the so</a:t>
            </a:r>
            <a:r>
              <a:rPr lang="en-US" sz="2100" strike="noStrike" u="none">
                <a:solidFill>
                  <a:srgbClr val="331B0D"/>
                </a:solidFill>
                <a:latin typeface="Open Sauce"/>
                <a:ea typeface="Open Sauce"/>
                <a:cs typeface="Open Sauce"/>
                <a:sym typeface="Open Sauce"/>
              </a:rPr>
              <a:t>u</a:t>
            </a:r>
            <a:r>
              <a:rPr lang="en-US" sz="2100" strike="noStrike" u="none">
                <a:solidFill>
                  <a:srgbClr val="331B0D"/>
                </a:solidFill>
                <a:latin typeface="Open Sauce"/>
                <a:ea typeface="Open Sauce"/>
                <a:cs typeface="Open Sauce"/>
                <a:sym typeface="Open Sauce"/>
              </a:rPr>
              <a:t>r</a:t>
            </a:r>
            <a:r>
              <a:rPr lang="en-US" sz="2100" strike="noStrike" u="none">
                <a:solidFill>
                  <a:srgbClr val="331B0D"/>
                </a:solidFill>
                <a:latin typeface="Open Sauce"/>
                <a:ea typeface="Open Sauce"/>
                <a:cs typeface="Open Sauce"/>
                <a:sym typeface="Open Sauce"/>
              </a:rPr>
              <a:t>c</a:t>
            </a:r>
            <a:r>
              <a:rPr lang="en-US" sz="2100" strike="noStrike" u="none">
                <a:solidFill>
                  <a:srgbClr val="331B0D"/>
                </a:solidFill>
                <a:latin typeface="Open Sauce"/>
                <a:ea typeface="Open Sauce"/>
                <a:cs typeface="Open Sauce"/>
                <a:sym typeface="Open Sauce"/>
              </a:rPr>
              <a:t>e, reme</a:t>
            </a:r>
            <a:r>
              <a:rPr lang="en-US" sz="2100" strike="noStrike" u="none">
                <a:solidFill>
                  <a:srgbClr val="331B0D"/>
                </a:solidFill>
                <a:latin typeface="Open Sauce"/>
                <a:ea typeface="Open Sauce"/>
                <a:cs typeface="Open Sauce"/>
                <a:sym typeface="Open Sauce"/>
              </a:rPr>
              <a:t>sh </a:t>
            </a:r>
            <a:r>
              <a:rPr lang="en-US" sz="2100" strike="noStrike" u="none">
                <a:solidFill>
                  <a:srgbClr val="331B0D"/>
                </a:solidFill>
                <a:latin typeface="Open Sauce"/>
                <a:ea typeface="Open Sauce"/>
                <a:cs typeface="Open Sauce"/>
                <a:sym typeface="Open Sauce"/>
              </a:rPr>
              <a:t>the wing r</a:t>
            </a:r>
            <a:r>
              <a:rPr lang="en-US" sz="2100" strike="noStrike" u="none">
                <a:solidFill>
                  <a:srgbClr val="331B0D"/>
                </a:solidFill>
                <a:latin typeface="Open Sauce"/>
                <a:ea typeface="Open Sauce"/>
                <a:cs typeface="Open Sauce"/>
                <a:sym typeface="Open Sauce"/>
              </a:rPr>
              <a:t>ib, and run th</a:t>
            </a:r>
            <a:r>
              <a:rPr lang="en-US" sz="2100" strike="noStrike" u="none">
                <a:solidFill>
                  <a:srgbClr val="331B0D"/>
                </a:solidFill>
                <a:latin typeface="Open Sauce"/>
                <a:ea typeface="Open Sauce"/>
                <a:cs typeface="Open Sauce"/>
                <a:sym typeface="Open Sauce"/>
              </a:rPr>
              <a:t>e physics simulation.</a:t>
            </a:r>
          </a:p>
        </p:txBody>
      </p:sp>
      <p:sp>
        <p:nvSpPr>
          <p:cNvPr name="TextBox 17" id="17"/>
          <p:cNvSpPr txBox="true"/>
          <p:nvPr/>
        </p:nvSpPr>
        <p:spPr>
          <a:xfrm rot="0">
            <a:off x="11627138" y="6715125"/>
            <a:ext cx="3763021" cy="405765"/>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8C7753"/>
                </a:solidFill>
                <a:latin typeface="Open Sauce"/>
                <a:ea typeface="Open Sauce"/>
                <a:cs typeface="Open Sauce"/>
                <a:sym typeface="Open Sauce"/>
              </a:rPr>
              <a:t>Feedb</a:t>
            </a:r>
            <a:r>
              <a:rPr lang="en-US" sz="2400" strike="noStrike" u="none">
                <a:solidFill>
                  <a:srgbClr val="8C7753"/>
                </a:solidFill>
                <a:latin typeface="Open Sauce"/>
                <a:ea typeface="Open Sauce"/>
                <a:cs typeface="Open Sauce"/>
                <a:sym typeface="Open Sauce"/>
              </a:rPr>
              <a:t>a</a:t>
            </a:r>
            <a:r>
              <a:rPr lang="en-US" sz="2400" strike="noStrike" u="none">
                <a:solidFill>
                  <a:srgbClr val="8C7753"/>
                </a:solidFill>
                <a:latin typeface="Open Sauce"/>
                <a:ea typeface="Open Sauce"/>
                <a:cs typeface="Open Sauce"/>
                <a:sym typeface="Open Sauce"/>
              </a:rPr>
              <a:t>ck &amp; Revi</a:t>
            </a:r>
            <a:r>
              <a:rPr lang="en-US" sz="2400" strike="noStrike" u="none">
                <a:solidFill>
                  <a:srgbClr val="8C7753"/>
                </a:solidFill>
                <a:latin typeface="Open Sauce"/>
                <a:ea typeface="Open Sauce"/>
                <a:cs typeface="Open Sauce"/>
                <a:sym typeface="Open Sauce"/>
              </a:rPr>
              <a:t>s</a:t>
            </a:r>
            <a:r>
              <a:rPr lang="en-US" sz="2400" strike="noStrike" u="none">
                <a:solidFill>
                  <a:srgbClr val="8C7753"/>
                </a:solidFill>
                <a:latin typeface="Open Sauce"/>
                <a:ea typeface="Open Sauce"/>
                <a:cs typeface="Open Sauce"/>
                <a:sym typeface="Open Sauce"/>
              </a:rPr>
              <a:t>ions</a:t>
            </a:r>
          </a:p>
        </p:txBody>
      </p:sp>
      <p:sp>
        <p:nvSpPr>
          <p:cNvPr name="TextBox 18" id="18"/>
          <p:cNvSpPr txBox="true"/>
          <p:nvPr/>
        </p:nvSpPr>
        <p:spPr>
          <a:xfrm rot="0">
            <a:off x="11627138" y="7341870"/>
            <a:ext cx="5632162" cy="148018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331B0D"/>
                </a:solidFill>
                <a:latin typeface="Open Sauce"/>
                <a:ea typeface="Open Sauce"/>
                <a:cs typeface="Open Sauce"/>
                <a:sym typeface="Open Sauce"/>
              </a:rPr>
              <a:t>An IronPython script inside ANSYS extracts the calculated m</a:t>
            </a:r>
            <a:r>
              <a:rPr lang="en-US" sz="2100" strike="noStrike" u="none">
                <a:solidFill>
                  <a:srgbClr val="331B0D"/>
                </a:solidFill>
                <a:latin typeface="Open Sauce"/>
                <a:ea typeface="Open Sauce"/>
                <a:cs typeface="Open Sauce"/>
                <a:sym typeface="Open Sauce"/>
              </a:rPr>
              <a:t>ass and </a:t>
            </a:r>
            <a:r>
              <a:rPr lang="en-US" sz="2100" strike="noStrike" u="none">
                <a:solidFill>
                  <a:srgbClr val="331B0D"/>
                </a:solidFill>
                <a:latin typeface="Open Sauce"/>
                <a:ea typeface="Open Sauce"/>
                <a:cs typeface="Open Sauce"/>
                <a:sym typeface="Open Sauce"/>
              </a:rPr>
              <a:t>maximum </a:t>
            </a:r>
            <a:r>
              <a:rPr lang="en-US" sz="2100" strike="noStrike" u="none">
                <a:solidFill>
                  <a:srgbClr val="331B0D"/>
                </a:solidFill>
                <a:latin typeface="Open Sauce"/>
                <a:ea typeface="Open Sauce"/>
                <a:cs typeface="Open Sauce"/>
                <a:sym typeface="Open Sauce"/>
              </a:rPr>
              <a:t>equivalent stre</a:t>
            </a:r>
            <a:r>
              <a:rPr lang="en-US" sz="2100" strike="noStrike" u="none">
                <a:solidFill>
                  <a:srgbClr val="331B0D"/>
                </a:solidFill>
                <a:latin typeface="Open Sauce"/>
                <a:ea typeface="Open Sauce"/>
                <a:cs typeface="Open Sauce"/>
                <a:sym typeface="Open Sauce"/>
              </a:rPr>
              <a:t>ss, writing</a:t>
            </a:r>
            <a:r>
              <a:rPr lang="en-US" sz="2100" strike="noStrike" u="none">
                <a:solidFill>
                  <a:srgbClr val="331B0D"/>
                </a:solidFill>
                <a:latin typeface="Open Sauce"/>
                <a:ea typeface="Open Sauce"/>
                <a:cs typeface="Open Sauce"/>
                <a:sym typeface="Open Sauce"/>
              </a:rPr>
              <a:t> the</a:t>
            </a:r>
            <a:r>
              <a:rPr lang="en-US" sz="2100" strike="noStrike" u="none">
                <a:solidFill>
                  <a:srgbClr val="331B0D"/>
                </a:solidFill>
                <a:latin typeface="Open Sauce"/>
                <a:ea typeface="Open Sauce"/>
                <a:cs typeface="Open Sauce"/>
                <a:sym typeface="Open Sauce"/>
              </a:rPr>
              <a:t>m</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to </a:t>
            </a:r>
            <a:r>
              <a:rPr lang="en-US" sz="2100" strike="noStrike" u="none">
                <a:solidFill>
                  <a:srgbClr val="331B0D"/>
                </a:solidFill>
                <a:latin typeface="Open Sauce"/>
                <a:ea typeface="Open Sauce"/>
                <a:cs typeface="Open Sauce"/>
                <a:sym typeface="Open Sauce"/>
              </a:rPr>
              <a:t>a</a:t>
            </a:r>
            <a:r>
              <a:rPr lang="en-US" sz="2100" strike="noStrike" u="none">
                <a:solidFill>
                  <a:srgbClr val="331B0D"/>
                </a:solidFill>
                <a:latin typeface="Open Sauce"/>
                <a:ea typeface="Open Sauce"/>
                <a:cs typeface="Open Sauce"/>
                <a:sym typeface="Open Sauce"/>
              </a:rPr>
              <a:t> new </a:t>
            </a:r>
            <a:r>
              <a:rPr lang="en-US" sz="2100" strike="noStrike" u="none">
                <a:solidFill>
                  <a:srgbClr val="331B0D"/>
                </a:solidFill>
                <a:latin typeface="Open Sauce"/>
                <a:ea typeface="Open Sauce"/>
                <a:cs typeface="Open Sauce"/>
                <a:sym typeface="Open Sauce"/>
              </a:rPr>
              <a:t>t</a:t>
            </a:r>
            <a:r>
              <a:rPr lang="en-US" sz="2100" strike="noStrike" u="none">
                <a:solidFill>
                  <a:srgbClr val="331B0D"/>
                </a:solidFill>
                <a:latin typeface="Open Sauce"/>
                <a:ea typeface="Open Sauce"/>
                <a:cs typeface="Open Sauce"/>
                <a:sym typeface="Open Sauce"/>
              </a:rPr>
              <a:t>ex</a:t>
            </a:r>
            <a:r>
              <a:rPr lang="en-US" sz="2100" strike="noStrike" u="none">
                <a:solidFill>
                  <a:srgbClr val="331B0D"/>
                </a:solidFill>
                <a:latin typeface="Open Sauce"/>
                <a:ea typeface="Open Sauce"/>
                <a:cs typeface="Open Sauce"/>
                <a:sym typeface="Open Sauce"/>
              </a:rPr>
              <a:t>t </a:t>
            </a:r>
            <a:r>
              <a:rPr lang="en-US" sz="2100" strike="noStrike" u="none">
                <a:solidFill>
                  <a:srgbClr val="331B0D"/>
                </a:solidFill>
                <a:latin typeface="Open Sauce"/>
                <a:ea typeface="Open Sauce"/>
                <a:cs typeface="Open Sauce"/>
                <a:sym typeface="Open Sauce"/>
              </a:rPr>
              <a:t>f</a:t>
            </a:r>
            <a:r>
              <a:rPr lang="en-US" sz="2100" strike="noStrike" u="none">
                <a:solidFill>
                  <a:srgbClr val="331B0D"/>
                </a:solidFill>
                <a:latin typeface="Open Sauce"/>
                <a:ea typeface="Open Sauce"/>
                <a:cs typeface="Open Sauce"/>
                <a:sym typeface="Open Sauce"/>
              </a:rPr>
              <a:t>i</a:t>
            </a:r>
            <a:r>
              <a:rPr lang="en-US" sz="2100" strike="noStrike" u="none">
                <a:solidFill>
                  <a:srgbClr val="331B0D"/>
                </a:solidFill>
                <a:latin typeface="Open Sauce"/>
                <a:ea typeface="Open Sauce"/>
                <a:cs typeface="Open Sauce"/>
                <a:sym typeface="Open Sauce"/>
              </a:rPr>
              <a:t>le f</a:t>
            </a:r>
            <a:r>
              <a:rPr lang="en-US" sz="2100" strike="noStrike" u="none">
                <a:solidFill>
                  <a:srgbClr val="331B0D"/>
                </a:solidFill>
                <a:latin typeface="Open Sauce"/>
                <a:ea typeface="Open Sauce"/>
                <a:cs typeface="Open Sauce"/>
                <a:sym typeface="Open Sauce"/>
              </a:rPr>
              <a:t>o</a:t>
            </a:r>
            <a:r>
              <a:rPr lang="en-US" sz="2100" strike="noStrike" u="none">
                <a:solidFill>
                  <a:srgbClr val="331B0D"/>
                </a:solidFill>
                <a:latin typeface="Open Sauce"/>
                <a:ea typeface="Open Sauce"/>
                <a:cs typeface="Open Sauce"/>
                <a:sym typeface="Open Sauce"/>
              </a:rPr>
              <a:t>r th</a:t>
            </a:r>
            <a:r>
              <a:rPr lang="en-US" sz="2100" strike="noStrike" u="none">
                <a:solidFill>
                  <a:srgbClr val="331B0D"/>
                </a:solidFill>
                <a:latin typeface="Open Sauce"/>
                <a:ea typeface="Open Sauce"/>
                <a:cs typeface="Open Sauce"/>
                <a:sym typeface="Open Sauce"/>
              </a:rPr>
              <a:t>e </a:t>
            </a:r>
            <a:r>
              <a:rPr lang="en-US" sz="2100" strike="noStrike" u="none">
                <a:solidFill>
                  <a:srgbClr val="331B0D"/>
                </a:solidFill>
                <a:latin typeface="Open Sauce"/>
                <a:ea typeface="Open Sauce"/>
                <a:cs typeface="Open Sauce"/>
                <a:sym typeface="Open Sauce"/>
              </a:rPr>
              <a:t>or</a:t>
            </a:r>
            <a:r>
              <a:rPr lang="en-US" sz="2100" strike="noStrike" u="none">
                <a:solidFill>
                  <a:srgbClr val="331B0D"/>
                </a:solidFill>
                <a:latin typeface="Open Sauce"/>
                <a:ea typeface="Open Sauce"/>
                <a:cs typeface="Open Sauce"/>
                <a:sym typeface="Open Sauce"/>
              </a:rPr>
              <a:t>c</a:t>
            </a:r>
            <a:r>
              <a:rPr lang="en-US" sz="2100" strike="noStrike" u="none">
                <a:solidFill>
                  <a:srgbClr val="331B0D"/>
                </a:solidFill>
                <a:latin typeface="Open Sauce"/>
                <a:ea typeface="Open Sauce"/>
                <a:cs typeface="Open Sauce"/>
                <a:sym typeface="Open Sauce"/>
              </a:rPr>
              <a:t>hestr</a:t>
            </a:r>
            <a:r>
              <a:rPr lang="en-US" sz="2100" strike="noStrike" u="none">
                <a:solidFill>
                  <a:srgbClr val="331B0D"/>
                </a:solidFill>
                <a:latin typeface="Open Sauce"/>
                <a:ea typeface="Open Sauce"/>
                <a:cs typeface="Open Sauce"/>
                <a:sym typeface="Open Sauce"/>
              </a:rPr>
              <a:t>a</a:t>
            </a:r>
            <a:r>
              <a:rPr lang="en-US" sz="2100" strike="noStrike" u="none">
                <a:solidFill>
                  <a:srgbClr val="331B0D"/>
                </a:solidFill>
                <a:latin typeface="Open Sauce"/>
                <a:ea typeface="Open Sauce"/>
                <a:cs typeface="Open Sauce"/>
                <a:sym typeface="Open Sauce"/>
              </a:rPr>
              <a:t>to</a:t>
            </a:r>
            <a:r>
              <a:rPr lang="en-US" sz="2100" strike="noStrike" u="none">
                <a:solidFill>
                  <a:srgbClr val="331B0D"/>
                </a:solidFill>
                <a:latin typeface="Open Sauce"/>
                <a:ea typeface="Open Sauce"/>
                <a:cs typeface="Open Sauce"/>
                <a:sym typeface="Open Sauce"/>
              </a:rPr>
              <a:t>r</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t</a:t>
            </a:r>
            <a:r>
              <a:rPr lang="en-US" sz="2100" strike="noStrike" u="none">
                <a:solidFill>
                  <a:srgbClr val="331B0D"/>
                </a:solidFill>
                <a:latin typeface="Open Sauce"/>
                <a:ea typeface="Open Sauce"/>
                <a:cs typeface="Open Sauce"/>
                <a:sym typeface="Open Sauce"/>
              </a:rPr>
              <a:t>o</a:t>
            </a:r>
            <a:r>
              <a:rPr lang="en-US" sz="2100" strike="noStrike" u="none">
                <a:solidFill>
                  <a:srgbClr val="331B0D"/>
                </a:solidFill>
                <a:latin typeface="Open Sauce"/>
                <a:ea typeface="Open Sauce"/>
                <a:cs typeface="Open Sauce"/>
                <a:sym typeface="Open Sauce"/>
              </a:rPr>
              <a:t> </a:t>
            </a:r>
            <a:r>
              <a:rPr lang="en-US" sz="2100" strike="noStrike" u="none">
                <a:solidFill>
                  <a:srgbClr val="331B0D"/>
                </a:solidFill>
                <a:latin typeface="Open Sauce"/>
                <a:ea typeface="Open Sauce"/>
                <a:cs typeface="Open Sauce"/>
                <a:sym typeface="Open Sauce"/>
              </a:rPr>
              <a:t>re</a:t>
            </a:r>
            <a:r>
              <a:rPr lang="en-US" sz="2100" strike="noStrike" u="none">
                <a:solidFill>
                  <a:srgbClr val="331B0D"/>
                </a:solidFill>
                <a:latin typeface="Open Sauce"/>
                <a:ea typeface="Open Sauce"/>
                <a:cs typeface="Open Sauce"/>
                <a:sym typeface="Open Sauce"/>
              </a:rPr>
              <a:t>ad</a:t>
            </a:r>
          </a:p>
        </p:txBody>
      </p:sp>
      <p:sp>
        <p:nvSpPr>
          <p:cNvPr name="TextBox 19" id="19"/>
          <p:cNvSpPr txBox="true"/>
          <p:nvPr/>
        </p:nvSpPr>
        <p:spPr>
          <a:xfrm rot="0">
            <a:off x="15390158" y="3576179"/>
            <a:ext cx="1678642"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Fin</a:t>
            </a:r>
            <a:r>
              <a:rPr lang="en-US" b="true" sz="2400" strike="noStrike" u="none">
                <a:solidFill>
                  <a:srgbClr val="8C7753"/>
                </a:solidFill>
                <a:latin typeface="Open Sauce Bold"/>
                <a:ea typeface="Open Sauce Bold"/>
                <a:cs typeface="Open Sauce Bold"/>
                <a:sym typeface="Open Sauce Bold"/>
              </a:rPr>
              <a:t>a</a:t>
            </a:r>
            <a:r>
              <a:rPr lang="en-US" b="true" sz="2400" strike="noStrike" u="none">
                <a:solidFill>
                  <a:srgbClr val="8C7753"/>
                </a:solidFill>
                <a:latin typeface="Open Sauce Bold"/>
                <a:ea typeface="Open Sauce Bold"/>
                <a:cs typeface="Open Sauce Bold"/>
                <a:sym typeface="Open Sauce Bold"/>
              </a:rPr>
              <a:t>l</a:t>
            </a:r>
            <a:r>
              <a:rPr lang="en-US" b="true" sz="2400" strike="noStrike" u="none">
                <a:solidFill>
                  <a:srgbClr val="8C7753"/>
                </a:solidFill>
                <a:latin typeface="Open Sauce Bold"/>
                <a:ea typeface="Open Sauce Bold"/>
                <a:cs typeface="Open Sauce Bold"/>
                <a:sym typeface="Open Sauce Bold"/>
              </a:rPr>
              <a:t> </a:t>
            </a:r>
            <a:r>
              <a:rPr lang="en-US" b="true" sz="2400" strike="noStrike" u="none">
                <a:solidFill>
                  <a:srgbClr val="8C7753"/>
                </a:solidFill>
                <a:latin typeface="Open Sauce Bold"/>
                <a:ea typeface="Open Sauce Bold"/>
                <a:cs typeface="Open Sauce Bold"/>
                <a:sym typeface="Open Sauce Bold"/>
              </a:rPr>
              <a:t>Build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2"/>
            <a:stretch>
              <a:fillRect l="-34427" t="0" r="-34427" b="0"/>
            </a:stretch>
          </a:blipFill>
        </p:spPr>
      </p:sp>
      <p:sp>
        <p:nvSpPr>
          <p:cNvPr name="TextBox 3" id="3"/>
          <p:cNvSpPr txBox="true"/>
          <p:nvPr/>
        </p:nvSpPr>
        <p:spPr>
          <a:xfrm rot="0">
            <a:off x="9912749" y="1989777"/>
            <a:ext cx="7342398"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Project Summary</a:t>
            </a:r>
          </a:p>
        </p:txBody>
      </p:sp>
      <p:sp>
        <p:nvSpPr>
          <p:cNvPr name="TextBox 4" id="4"/>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8</a:t>
            </a:r>
          </a:p>
        </p:txBody>
      </p:sp>
      <p:sp>
        <p:nvSpPr>
          <p:cNvPr name="TextBox 5" id="5"/>
          <p:cNvSpPr txBox="true"/>
          <p:nvPr/>
        </p:nvSpPr>
        <p:spPr>
          <a:xfrm rot="0">
            <a:off x="9912749" y="3073722"/>
            <a:ext cx="4290420"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The Engineering Solu</a:t>
            </a:r>
            <a:r>
              <a:rPr lang="en-US" sz="2400">
                <a:solidFill>
                  <a:srgbClr val="8C7753"/>
                </a:solidFill>
                <a:latin typeface="Open Sauce"/>
                <a:ea typeface="Open Sauce"/>
                <a:cs typeface="Open Sauce"/>
                <a:sym typeface="Open Sauce"/>
              </a:rPr>
              <a:t>tion</a:t>
            </a:r>
          </a:p>
        </p:txBody>
      </p:sp>
      <p:sp>
        <p:nvSpPr>
          <p:cNvPr name="TextBox 6" id="6"/>
          <p:cNvSpPr txBox="true"/>
          <p:nvPr/>
        </p:nvSpPr>
        <p:spPr>
          <a:xfrm rot="0">
            <a:off x="9912749" y="3831912"/>
            <a:ext cx="8081468" cy="1480185"/>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A fully autonomous Multidi</a:t>
            </a:r>
            <a:r>
              <a:rPr lang="en-US" sz="2100">
                <a:solidFill>
                  <a:srgbClr val="331B0D"/>
                </a:solidFill>
                <a:latin typeface="Open Sauce"/>
                <a:ea typeface="Open Sauce"/>
                <a:cs typeface="Open Sauce"/>
                <a:sym typeface="Open Sauce"/>
              </a:rPr>
              <a:t>sciplinary Design Optimization (MDO) pipeline that successfully minimizes aerospace component mass without human intervention, bridging parametric CAD and FEA solvers via Python.</a:t>
            </a:r>
          </a:p>
        </p:txBody>
      </p:sp>
      <p:sp>
        <p:nvSpPr>
          <p:cNvPr name="TextBox 7" id="7"/>
          <p:cNvSpPr txBox="true"/>
          <p:nvPr/>
        </p:nvSpPr>
        <p:spPr>
          <a:xfrm rot="0">
            <a:off x="9912749" y="5702622"/>
            <a:ext cx="447374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Performance Metrics</a:t>
            </a:r>
          </a:p>
        </p:txBody>
      </p:sp>
      <p:sp>
        <p:nvSpPr>
          <p:cNvPr name="TextBox 8" id="8"/>
          <p:cNvSpPr txBox="true"/>
          <p:nvPr/>
        </p:nvSpPr>
        <p:spPr>
          <a:xfrm rot="0">
            <a:off x="9912749" y="6460812"/>
            <a:ext cx="7342398" cy="3337560"/>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Mass Reduction: Successfully sh</a:t>
            </a:r>
            <a:r>
              <a:rPr lang="en-US" sz="2100">
                <a:solidFill>
                  <a:srgbClr val="331B0D"/>
                </a:solidFill>
                <a:latin typeface="Open Sauce"/>
                <a:ea typeface="Open Sauce"/>
                <a:cs typeface="Open Sauce"/>
                <a:sym typeface="Open Sauce"/>
              </a:rPr>
              <a:t>aved 160 grams o</a:t>
            </a:r>
            <a:r>
              <a:rPr lang="en-US" sz="2100">
                <a:solidFill>
                  <a:srgbClr val="331B0D"/>
                </a:solidFill>
                <a:latin typeface="Open Sauce"/>
                <a:ea typeface="Open Sauce"/>
                <a:cs typeface="Open Sauce"/>
                <a:sym typeface="Open Sauce"/>
              </a:rPr>
              <a:t>f d</a:t>
            </a:r>
            <a:r>
              <a:rPr lang="en-US" sz="2100">
                <a:solidFill>
                  <a:srgbClr val="331B0D"/>
                </a:solidFill>
                <a:latin typeface="Open Sauce"/>
                <a:ea typeface="Open Sauce"/>
                <a:cs typeface="Open Sauce"/>
                <a:sym typeface="Open Sauce"/>
              </a:rPr>
              <a:t>ead weight per rib (an 11% reduction from the baseline 1.40 kg model).</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Structural Integrity: Perfectly converged just under the strict 50.0 MPa maximum eq</a:t>
            </a:r>
            <a:r>
              <a:rPr lang="en-US" sz="2100">
                <a:solidFill>
                  <a:srgbClr val="331B0D"/>
                </a:solidFill>
                <a:latin typeface="Open Sauce"/>
                <a:ea typeface="Open Sauce"/>
                <a:cs typeface="Open Sauce"/>
                <a:sym typeface="Open Sauce"/>
              </a:rPr>
              <a:t>uiva</a:t>
            </a:r>
            <a:r>
              <a:rPr lang="en-US" sz="2100">
                <a:solidFill>
                  <a:srgbClr val="331B0D"/>
                </a:solidFill>
                <a:latin typeface="Open Sauce"/>
                <a:ea typeface="Open Sauce"/>
                <a:cs typeface="Open Sauce"/>
                <a:sym typeface="Open Sauce"/>
              </a:rPr>
              <a:t>lent stress limit without overshooting.</a:t>
            </a:r>
          </a:p>
          <a:p>
            <a:pPr algn="l" marL="453390" indent="-226695" lvl="1">
              <a:lnSpc>
                <a:spcPts val="2940"/>
              </a:lnSpc>
              <a:spcBef>
                <a:spcPct val="0"/>
              </a:spcBef>
              <a:buFont typeface="Arial"/>
              <a:buChar char="•"/>
            </a:pPr>
            <a:r>
              <a:rPr lang="en-US" sz="2100">
                <a:solidFill>
                  <a:srgbClr val="331B0D"/>
                </a:solidFill>
                <a:latin typeface="Open Sauce"/>
                <a:ea typeface="Open Sauce"/>
                <a:cs typeface="Open Sauce"/>
                <a:sym typeface="Open Sauce"/>
              </a:rPr>
              <a:t>Time Savings: Completely eliminated the 15-minute manual bottleneck, reducing engineering cycle time to a fraction of the cost.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028700" y="1989777"/>
            <a:ext cx="8115300" cy="636270"/>
          </a:xfrm>
          <a:prstGeom prst="rect">
            <a:avLst/>
          </a:prstGeom>
        </p:spPr>
        <p:txBody>
          <a:bodyPr anchor="t" rtlCol="false" tIns="0" lIns="0" bIns="0" rIns="0">
            <a:spAutoFit/>
          </a:bodyPr>
          <a:lstStyle/>
          <a:p>
            <a:pPr algn="l">
              <a:lnSpc>
                <a:spcPts val="4800"/>
              </a:lnSpc>
            </a:pPr>
            <a:r>
              <a:rPr lang="en-US" sz="4800" spc="-288">
                <a:solidFill>
                  <a:srgbClr val="331B0D"/>
                </a:solidFill>
                <a:latin typeface="Open Sauce"/>
                <a:ea typeface="Open Sauce"/>
                <a:cs typeface="Open Sauce"/>
                <a:sym typeface="Open Sauce"/>
              </a:rPr>
              <a:t>PIPELINE CAPABILITIES </a:t>
            </a:r>
          </a:p>
        </p:txBody>
      </p:sp>
      <p:sp>
        <p:nvSpPr>
          <p:cNvPr name="TextBox 3" id="3"/>
          <p:cNvSpPr txBox="true"/>
          <p:nvPr/>
        </p:nvSpPr>
        <p:spPr>
          <a:xfrm rot="0">
            <a:off x="1028700" y="2821207"/>
            <a:ext cx="6999640" cy="7259955"/>
          </a:xfrm>
          <a:prstGeom prst="rect">
            <a:avLst/>
          </a:prstGeom>
        </p:spPr>
        <p:txBody>
          <a:bodyPr anchor="t" rtlCol="false" tIns="0" lIns="0" bIns="0" rIns="0">
            <a:spAutoFit/>
          </a:bodyPr>
          <a:lstStyle/>
          <a:p>
            <a:pPr algn="l">
              <a:lnSpc>
                <a:spcPts val="3840"/>
              </a:lnSpc>
            </a:pPr>
            <a:r>
              <a:rPr lang="en-US" sz="2400">
                <a:solidFill>
                  <a:srgbClr val="331B0D"/>
                </a:solidFill>
                <a:latin typeface="Open Sauce"/>
                <a:ea typeface="Open Sauce"/>
                <a:cs typeface="Open Sauce"/>
                <a:sym typeface="Open Sauce"/>
              </a:rPr>
              <a:t>Ou</a:t>
            </a:r>
            <a:r>
              <a:rPr lang="en-US" sz="2400">
                <a:solidFill>
                  <a:srgbClr val="331B0D"/>
                </a:solidFill>
                <a:latin typeface="Open Sauce"/>
                <a:ea typeface="Open Sauce"/>
                <a:cs typeface="Open Sauce"/>
                <a:sym typeface="Open Sauce"/>
              </a:rPr>
              <a:t>r final pipeline includes a set of intelligent features designed to fully automate the CAD-to-FEA iteration cycle. The core of this system is a proportional control algorithm that dynamically calculates geometric step sizes based on real-time stress feedback. This ensures the design rapidly approaches the 50 MPa safety limit when far away, but takes microscopic steps near the target to prevent overshooting. Additionally, the system utilizes programmatic file bridging (via .txt and .step formats) and GUI automation for seamless data transfer between Fusion 360 and ANSYS Mechanical, guaranteeing a completely hands-free, mathematically convergent loop</a:t>
            </a:r>
          </a:p>
        </p:txBody>
      </p:sp>
      <p:sp>
        <p:nvSpPr>
          <p:cNvPr name="Freeform 4" id="4"/>
          <p:cNvSpPr/>
          <p:nvPr/>
        </p:nvSpPr>
        <p:spPr>
          <a:xfrm flipH="false" flipV="false" rot="0">
            <a:off x="914400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2"/>
            <a:stretch>
              <a:fillRect l="-63065" t="0" r="-63065" b="0"/>
            </a:stretch>
          </a:blipFill>
        </p:spPr>
      </p:sp>
      <p:sp>
        <p:nvSpPr>
          <p:cNvPr name="TextBox 5" id="5"/>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9</a:t>
            </a:r>
          </a:p>
        </p:txBody>
      </p:sp>
      <p:sp>
        <p:nvSpPr>
          <p:cNvPr name="TextBox 6" id="6"/>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Key Features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1158543" y="62865"/>
            <a:ext cx="19446543" cy="6455618"/>
          </a:xfrm>
          <a:custGeom>
            <a:avLst/>
            <a:gdLst/>
            <a:ahLst/>
            <a:cxnLst/>
            <a:rect r="r" b="b" t="t" l="l"/>
            <a:pathLst>
              <a:path h="6455618" w="19446543">
                <a:moveTo>
                  <a:pt x="0" y="0"/>
                </a:moveTo>
                <a:lnTo>
                  <a:pt x="19446543" y="0"/>
                </a:lnTo>
                <a:lnTo>
                  <a:pt x="19446543" y="6455618"/>
                </a:lnTo>
                <a:lnTo>
                  <a:pt x="0" y="6455618"/>
                </a:lnTo>
                <a:lnTo>
                  <a:pt x="0" y="0"/>
                </a:lnTo>
                <a:close/>
              </a:path>
            </a:pathLst>
          </a:custGeom>
          <a:blipFill>
            <a:blip r:embed="rId2"/>
            <a:stretch>
              <a:fillRect l="-2615" t="-1776" r="0" b="-1776"/>
            </a:stretch>
          </a:blipFill>
        </p:spPr>
      </p:sp>
      <p:sp>
        <p:nvSpPr>
          <p:cNvPr name="TextBox 3" id="3"/>
          <p:cNvSpPr txBox="true"/>
          <p:nvPr/>
        </p:nvSpPr>
        <p:spPr>
          <a:xfrm rot="0">
            <a:off x="1653489" y="7322393"/>
            <a:ext cx="3891531" cy="449470"/>
          </a:xfrm>
          <a:prstGeom prst="rect">
            <a:avLst/>
          </a:prstGeom>
        </p:spPr>
        <p:txBody>
          <a:bodyPr anchor="t" rtlCol="false" tIns="0" lIns="0" bIns="0" rIns="0">
            <a:spAutoFit/>
          </a:bodyPr>
          <a:lstStyle/>
          <a:p>
            <a:pPr algn="l">
              <a:lnSpc>
                <a:spcPts val="3843"/>
              </a:lnSpc>
            </a:pPr>
            <a:r>
              <a:rPr lang="en-US" sz="2402">
                <a:solidFill>
                  <a:srgbClr val="331B0D"/>
                </a:solidFill>
                <a:latin typeface="Open Sauce"/>
                <a:ea typeface="Open Sauce"/>
                <a:cs typeface="Open Sauce"/>
                <a:sym typeface="Open Sauce"/>
              </a:rPr>
              <a:t>Mu</a:t>
            </a:r>
            <a:r>
              <a:rPr lang="en-US" sz="2402">
                <a:solidFill>
                  <a:srgbClr val="331B0D"/>
                </a:solidFill>
                <a:latin typeface="Open Sauce"/>
                <a:ea typeface="Open Sauce"/>
                <a:cs typeface="Open Sauce"/>
                <a:sym typeface="Open Sauce"/>
              </a:rPr>
              <a:t>lti-Variable Control</a:t>
            </a:r>
          </a:p>
        </p:txBody>
      </p:sp>
      <p:sp>
        <p:nvSpPr>
          <p:cNvPr name="TextBox 4" id="4"/>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10</a:t>
            </a:r>
          </a:p>
        </p:txBody>
      </p:sp>
      <p:sp>
        <p:nvSpPr>
          <p:cNvPr name="TextBox 5" id="5"/>
          <p:cNvSpPr txBox="true"/>
          <p:nvPr/>
        </p:nvSpPr>
        <p:spPr>
          <a:xfrm rot="0">
            <a:off x="7345262" y="7251908"/>
            <a:ext cx="4056898" cy="944880"/>
          </a:xfrm>
          <a:prstGeom prst="rect">
            <a:avLst/>
          </a:prstGeom>
        </p:spPr>
        <p:txBody>
          <a:bodyPr anchor="t" rtlCol="false" tIns="0" lIns="0" bIns="0" rIns="0">
            <a:spAutoFit/>
          </a:bodyPr>
          <a:lstStyle/>
          <a:p>
            <a:pPr algn="l">
              <a:lnSpc>
                <a:spcPts val="3840"/>
              </a:lnSpc>
            </a:pPr>
            <a:r>
              <a:rPr lang="en-US" sz="2400">
                <a:solidFill>
                  <a:srgbClr val="331B0D"/>
                </a:solidFill>
                <a:latin typeface="Open Sauce"/>
                <a:ea typeface="Open Sauce"/>
                <a:cs typeface="Open Sauce"/>
                <a:sym typeface="Open Sauce"/>
              </a:rPr>
              <a:t>Adv</a:t>
            </a:r>
            <a:r>
              <a:rPr lang="en-US" sz="2400">
                <a:solidFill>
                  <a:srgbClr val="331B0D"/>
                </a:solidFill>
                <a:latin typeface="Open Sauce"/>
                <a:ea typeface="Open Sauce"/>
                <a:cs typeface="Open Sauce"/>
                <a:sym typeface="Open Sauce"/>
              </a:rPr>
              <a:t>anced Physics Constraints</a:t>
            </a:r>
          </a:p>
        </p:txBody>
      </p:sp>
      <p:sp>
        <p:nvSpPr>
          <p:cNvPr name="TextBox 6" id="6"/>
          <p:cNvSpPr txBox="true"/>
          <p:nvPr/>
        </p:nvSpPr>
        <p:spPr>
          <a:xfrm rot="0">
            <a:off x="13202402" y="7312868"/>
            <a:ext cx="4056898" cy="459105"/>
          </a:xfrm>
          <a:prstGeom prst="rect">
            <a:avLst/>
          </a:prstGeom>
        </p:spPr>
        <p:txBody>
          <a:bodyPr anchor="t" rtlCol="false" tIns="0" lIns="0" bIns="0" rIns="0">
            <a:spAutoFit/>
          </a:bodyPr>
          <a:lstStyle/>
          <a:p>
            <a:pPr algn="l">
              <a:lnSpc>
                <a:spcPts val="3840"/>
              </a:lnSpc>
            </a:pPr>
            <a:r>
              <a:rPr lang="en-US" sz="2400">
                <a:solidFill>
                  <a:srgbClr val="331B0D"/>
                </a:solidFill>
                <a:latin typeface="Open Sauce"/>
                <a:ea typeface="Open Sauce"/>
                <a:cs typeface="Open Sauce"/>
                <a:sym typeface="Open Sauce"/>
              </a:rPr>
              <a:t>As</a:t>
            </a:r>
            <a:r>
              <a:rPr lang="en-US" sz="2400">
                <a:solidFill>
                  <a:srgbClr val="331B0D"/>
                </a:solidFill>
                <a:latin typeface="Open Sauce"/>
                <a:ea typeface="Open Sauce"/>
                <a:cs typeface="Open Sauce"/>
                <a:sym typeface="Open Sauce"/>
              </a:rPr>
              <a:t>sembly-Level Scaling</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11</a:t>
            </a:r>
          </a:p>
        </p:txBody>
      </p:sp>
      <p:sp>
        <p:nvSpPr>
          <p:cNvPr name="TextBox 3" id="3"/>
          <p:cNvSpPr txBox="true"/>
          <p:nvPr/>
        </p:nvSpPr>
        <p:spPr>
          <a:xfrm rot="0">
            <a:off x="1028700" y="1057275"/>
            <a:ext cx="367746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PROJECT CHALLENGES </a:t>
            </a:r>
          </a:p>
        </p:txBody>
      </p:sp>
      <p:sp>
        <p:nvSpPr>
          <p:cNvPr name="TextBox 4" id="4"/>
          <p:cNvSpPr txBox="true"/>
          <p:nvPr/>
        </p:nvSpPr>
        <p:spPr>
          <a:xfrm rot="0">
            <a:off x="1028700" y="5019961"/>
            <a:ext cx="3677466"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Timing the Ha</a:t>
            </a:r>
            <a:r>
              <a:rPr lang="en-US" b="true" sz="2400" strike="noStrike" u="none">
                <a:solidFill>
                  <a:srgbClr val="8C7753"/>
                </a:solidFill>
                <a:latin typeface="Open Sauce Bold"/>
                <a:ea typeface="Open Sauce Bold"/>
                <a:cs typeface="Open Sauce Bold"/>
                <a:sym typeface="Open Sauce Bold"/>
              </a:rPr>
              <a:t>ndoff </a:t>
            </a:r>
          </a:p>
        </p:txBody>
      </p:sp>
      <p:sp>
        <p:nvSpPr>
          <p:cNvPr name="TextBox 5" id="5"/>
          <p:cNvSpPr txBox="true"/>
          <p:nvPr/>
        </p:nvSpPr>
        <p:spPr>
          <a:xfrm rot="0">
            <a:off x="1028700" y="5599081"/>
            <a:ext cx="5606820" cy="3859530"/>
          </a:xfrm>
          <a:prstGeom prst="rect">
            <a:avLst/>
          </a:prstGeom>
        </p:spPr>
        <p:txBody>
          <a:bodyPr anchor="t" rtlCol="false" tIns="0" lIns="0" bIns="0" rIns="0">
            <a:spAutoFit/>
          </a:bodyPr>
          <a:lstStyle/>
          <a:p>
            <a:pPr algn="l" marL="0" indent="0" lvl="0">
              <a:lnSpc>
                <a:spcPts val="3840"/>
              </a:lnSpc>
              <a:spcBef>
                <a:spcPct val="0"/>
              </a:spcBef>
            </a:pPr>
            <a:r>
              <a:rPr lang="en-US" sz="2400">
                <a:solidFill>
                  <a:srgbClr val="331B0D"/>
                </a:solidFill>
                <a:latin typeface="Open Sauce"/>
                <a:ea typeface="Open Sauce"/>
                <a:cs typeface="Open Sauce"/>
                <a:sym typeface="Open Sauce"/>
              </a:rPr>
              <a:t>Becaus</a:t>
            </a:r>
            <a:r>
              <a:rPr lang="en-US" sz="2400" strike="noStrike" u="none">
                <a:solidFill>
                  <a:srgbClr val="331B0D"/>
                </a:solidFill>
                <a:latin typeface="Open Sauce"/>
                <a:ea typeface="Open Sauce"/>
                <a:cs typeface="Open Sauce"/>
                <a:sym typeface="Open Sauce"/>
              </a:rPr>
              <a:t>e </a:t>
            </a:r>
            <a:r>
              <a:rPr lang="en-US" sz="2400" strike="noStrike" u="none">
                <a:solidFill>
                  <a:srgbClr val="331B0D"/>
                </a:solidFill>
                <a:latin typeface="Open Sauce"/>
                <a:ea typeface="Open Sauce"/>
                <a:cs typeface="Open Sauce"/>
                <a:sym typeface="Open Sauce"/>
              </a:rPr>
              <a:t>ANSYS me</a:t>
            </a:r>
            <a:r>
              <a:rPr lang="en-US" sz="2400" strike="noStrike" u="none">
                <a:solidFill>
                  <a:srgbClr val="331B0D"/>
                </a:solidFill>
                <a:latin typeface="Open Sauce"/>
                <a:ea typeface="Open Sauce"/>
                <a:cs typeface="Open Sauce"/>
                <a:sym typeface="Open Sauce"/>
              </a:rPr>
              <a:t>s</a:t>
            </a:r>
            <a:r>
              <a:rPr lang="en-US" sz="2400" strike="noStrike" u="none">
                <a:solidFill>
                  <a:srgbClr val="331B0D"/>
                </a:solidFill>
                <a:latin typeface="Open Sauce"/>
                <a:ea typeface="Open Sauce"/>
                <a:cs typeface="Open Sauce"/>
                <a:sym typeface="Open Sauce"/>
              </a:rPr>
              <a:t>hing </a:t>
            </a:r>
            <a:r>
              <a:rPr lang="en-US" sz="2400" strike="noStrike" u="none">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n</a:t>
            </a:r>
            <a:r>
              <a:rPr lang="en-US" sz="2400" strike="noStrike" u="none">
                <a:solidFill>
                  <a:srgbClr val="331B0D"/>
                </a:solidFill>
                <a:latin typeface="Open Sauce"/>
                <a:ea typeface="Open Sauce"/>
                <a:cs typeface="Open Sauce"/>
                <a:sym typeface="Open Sauce"/>
              </a:rPr>
              <a:t>d </a:t>
            </a:r>
            <a:r>
              <a:rPr lang="en-US" sz="2400" strike="noStrike" u="none">
                <a:solidFill>
                  <a:srgbClr val="331B0D"/>
                </a:solidFill>
                <a:latin typeface="Open Sauce"/>
                <a:ea typeface="Open Sauce"/>
                <a:cs typeface="Open Sauce"/>
                <a:sym typeface="Open Sauce"/>
              </a:rPr>
              <a:t>solv</a:t>
            </a:r>
            <a:r>
              <a:rPr lang="en-US" sz="2400" strike="noStrike" u="none">
                <a:solidFill>
                  <a:srgbClr val="331B0D"/>
                </a:solidFill>
                <a:latin typeface="Open Sauce"/>
                <a:ea typeface="Open Sauce"/>
                <a:cs typeface="Open Sauce"/>
                <a:sym typeface="Open Sauce"/>
              </a:rPr>
              <a:t>i</a:t>
            </a:r>
            <a:r>
              <a:rPr lang="en-US" sz="2400" strike="noStrike" u="none">
                <a:solidFill>
                  <a:srgbClr val="331B0D"/>
                </a:solidFill>
                <a:latin typeface="Open Sauce"/>
                <a:ea typeface="Open Sauce"/>
                <a:cs typeface="Open Sauce"/>
                <a:sym typeface="Open Sauce"/>
              </a:rPr>
              <a:t>ng</a:t>
            </a:r>
            <a:r>
              <a:rPr lang="en-US" sz="2400" strike="noStrike" u="none">
                <a:solidFill>
                  <a:srgbClr val="331B0D"/>
                </a:solidFill>
                <a:latin typeface="Open Sauce"/>
                <a:ea typeface="Open Sauce"/>
                <a:cs typeface="Open Sauce"/>
                <a:sym typeface="Open Sauce"/>
              </a:rPr>
              <a:t> t</a:t>
            </a:r>
            <a:r>
              <a:rPr lang="en-US" sz="2400" strike="noStrike" u="none">
                <a:solidFill>
                  <a:srgbClr val="331B0D"/>
                </a:solidFill>
                <a:latin typeface="Open Sauce"/>
                <a:ea typeface="Open Sauce"/>
                <a:cs typeface="Open Sauce"/>
                <a:sym typeface="Open Sauce"/>
              </a:rPr>
              <a:t>i</a:t>
            </a:r>
            <a:r>
              <a:rPr lang="en-US" sz="2400" strike="noStrike" u="none">
                <a:solidFill>
                  <a:srgbClr val="331B0D"/>
                </a:solidFill>
                <a:latin typeface="Open Sauce"/>
                <a:ea typeface="Open Sauce"/>
                <a:cs typeface="Open Sauce"/>
                <a:sym typeface="Open Sauce"/>
              </a:rPr>
              <a:t>m</a:t>
            </a:r>
            <a:r>
              <a:rPr lang="en-US" sz="2400" strike="noStrike" u="none">
                <a:solidFill>
                  <a:srgbClr val="331B0D"/>
                </a:solidFill>
                <a:latin typeface="Open Sauce"/>
                <a:ea typeface="Open Sauce"/>
                <a:cs typeface="Open Sauce"/>
                <a:sym typeface="Open Sauce"/>
              </a:rPr>
              <a:t>es v</a:t>
            </a:r>
            <a:r>
              <a:rPr lang="en-US" sz="2400" strike="noStrike" u="none">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y </a:t>
            </a:r>
            <a:r>
              <a:rPr lang="en-US" sz="2400" strike="noStrike" u="none">
                <a:solidFill>
                  <a:srgbClr val="331B0D"/>
                </a:solidFill>
                <a:latin typeface="Open Sauce"/>
                <a:ea typeface="Open Sauce"/>
                <a:cs typeface="Open Sauce"/>
                <a:sym typeface="Open Sauce"/>
              </a:rPr>
              <a:t>on ev</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ry</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ru</a:t>
            </a:r>
            <a:r>
              <a:rPr lang="en-US" sz="2400" strike="noStrike" u="none">
                <a:solidFill>
                  <a:srgbClr val="331B0D"/>
                </a:solidFill>
                <a:latin typeface="Open Sauce"/>
                <a:ea typeface="Open Sauce"/>
                <a:cs typeface="Open Sauce"/>
                <a:sym typeface="Open Sauce"/>
              </a:rPr>
              <a:t>n</a:t>
            </a:r>
            <a:r>
              <a:rPr lang="en-US" sz="2400" strike="noStrike" u="none">
                <a:solidFill>
                  <a:srgbClr val="331B0D"/>
                </a:solidFill>
                <a:latin typeface="Open Sauce"/>
                <a:ea typeface="Open Sauce"/>
                <a:cs typeface="Open Sauce"/>
                <a:sym typeface="Open Sauce"/>
              </a:rPr>
              <a:t>,</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t</a:t>
            </a:r>
            <a:r>
              <a:rPr lang="en-US" sz="2400" strike="noStrike" u="none">
                <a:solidFill>
                  <a:srgbClr val="331B0D"/>
                </a:solidFill>
                <a:latin typeface="Open Sauce"/>
                <a:ea typeface="Open Sauce"/>
                <a:cs typeface="Open Sauce"/>
                <a:sym typeface="Open Sauce"/>
              </a:rPr>
              <a:t>h</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Py</a:t>
            </a:r>
            <a:r>
              <a:rPr lang="en-US" sz="2400" strike="noStrike" u="none">
                <a:solidFill>
                  <a:srgbClr val="331B0D"/>
                </a:solidFill>
                <a:latin typeface="Open Sauce"/>
                <a:ea typeface="Open Sauce"/>
                <a:cs typeface="Open Sauce"/>
                <a:sym typeface="Open Sauce"/>
              </a:rPr>
              <a:t>t</a:t>
            </a:r>
            <a:r>
              <a:rPr lang="en-US" sz="2400" strike="noStrike" u="none">
                <a:solidFill>
                  <a:srgbClr val="331B0D"/>
                </a:solidFill>
                <a:latin typeface="Open Sauce"/>
                <a:ea typeface="Open Sauce"/>
                <a:cs typeface="Open Sauce"/>
                <a:sym typeface="Open Sauce"/>
              </a:rPr>
              <a:t>h</a:t>
            </a:r>
            <a:r>
              <a:rPr lang="en-US" sz="2400" strike="noStrike" u="none">
                <a:solidFill>
                  <a:srgbClr val="331B0D"/>
                </a:solidFill>
                <a:latin typeface="Open Sauce"/>
                <a:ea typeface="Open Sauce"/>
                <a:cs typeface="Open Sauce"/>
                <a:sym typeface="Open Sauce"/>
              </a:rPr>
              <a:t>o</a:t>
            </a:r>
            <a:r>
              <a:rPr lang="en-US" sz="2400" strike="noStrike" u="none">
                <a:solidFill>
                  <a:srgbClr val="331B0D"/>
                </a:solidFill>
                <a:latin typeface="Open Sauce"/>
                <a:ea typeface="Open Sauce"/>
                <a:cs typeface="Open Sauce"/>
                <a:sym typeface="Open Sauce"/>
              </a:rPr>
              <a:t>n</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"g</a:t>
            </a:r>
            <a:r>
              <a:rPr lang="en-US" sz="2400" strike="noStrike" u="none">
                <a:solidFill>
                  <a:srgbClr val="331B0D"/>
                </a:solidFill>
                <a:latin typeface="Open Sauce"/>
                <a:ea typeface="Open Sauce"/>
                <a:cs typeface="Open Sauce"/>
                <a:sym typeface="Open Sauce"/>
              </a:rPr>
              <a:t>h</a:t>
            </a:r>
            <a:r>
              <a:rPr lang="en-US" sz="2400" strike="noStrike" u="none">
                <a:solidFill>
                  <a:srgbClr val="331B0D"/>
                </a:solidFill>
                <a:latin typeface="Open Sauce"/>
                <a:ea typeface="Open Sauce"/>
                <a:cs typeface="Open Sauce"/>
                <a:sym typeface="Open Sauce"/>
              </a:rPr>
              <a:t>ost</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mous</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 o</a:t>
            </a:r>
            <a:r>
              <a:rPr lang="en-US" sz="2400" strike="noStrike" u="none">
                <a:solidFill>
                  <a:srgbClr val="331B0D"/>
                </a:solidFill>
                <a:latin typeface="Open Sauce"/>
                <a:ea typeface="Open Sauce"/>
                <a:cs typeface="Open Sauce"/>
                <a:sym typeface="Open Sauce"/>
              </a:rPr>
              <a:t>c</a:t>
            </a:r>
            <a:r>
              <a:rPr lang="en-US" sz="2400" strike="noStrike" u="none">
                <a:solidFill>
                  <a:srgbClr val="331B0D"/>
                </a:solidFill>
                <a:latin typeface="Open Sauce"/>
                <a:ea typeface="Open Sauce"/>
                <a:cs typeface="Open Sauce"/>
                <a:sym typeface="Open Sauce"/>
              </a:rPr>
              <a:t>ca</a:t>
            </a:r>
            <a:r>
              <a:rPr lang="en-US" sz="2400" strike="noStrike" u="none">
                <a:solidFill>
                  <a:srgbClr val="331B0D"/>
                </a:solidFill>
                <a:latin typeface="Open Sauce"/>
                <a:ea typeface="Open Sauce"/>
                <a:cs typeface="Open Sauce"/>
                <a:sym typeface="Open Sauce"/>
              </a:rPr>
              <a:t>sion</a:t>
            </a:r>
            <a:r>
              <a:rPr lang="en-US" sz="2400" strike="noStrike" u="none">
                <a:solidFill>
                  <a:srgbClr val="331B0D"/>
                </a:solidFill>
                <a:latin typeface="Open Sauce"/>
                <a:ea typeface="Open Sauce"/>
                <a:cs typeface="Open Sauce"/>
                <a:sym typeface="Open Sauce"/>
              </a:rPr>
              <a:t>ally mi</a:t>
            </a:r>
            <a:r>
              <a:rPr lang="en-US" sz="2400" strike="noStrike" u="none">
                <a:solidFill>
                  <a:srgbClr val="331B0D"/>
                </a:solidFill>
                <a:latin typeface="Open Sauce"/>
                <a:ea typeface="Open Sauce"/>
                <a:cs typeface="Open Sauce"/>
                <a:sym typeface="Open Sauce"/>
              </a:rPr>
              <a:t>s</a:t>
            </a:r>
            <a:r>
              <a:rPr lang="en-US" sz="2400" strike="noStrike" u="none">
                <a:solidFill>
                  <a:srgbClr val="331B0D"/>
                </a:solidFill>
                <a:latin typeface="Open Sauce"/>
                <a:ea typeface="Open Sauce"/>
                <a:cs typeface="Open Sauce"/>
                <a:sym typeface="Open Sauce"/>
              </a:rPr>
              <a:t>fired.</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We</a:t>
            </a:r>
            <a:r>
              <a:rPr lang="en-US" sz="2400" strike="noStrike" u="none">
                <a:solidFill>
                  <a:srgbClr val="331B0D"/>
                </a:solidFill>
                <a:latin typeface="Open Sauce"/>
                <a:ea typeface="Open Sauce"/>
                <a:cs typeface="Open Sauce"/>
                <a:sym typeface="Open Sauce"/>
              </a:rPr>
              <a:t> ha</a:t>
            </a:r>
            <a:r>
              <a:rPr lang="en-US" sz="2400" strike="noStrike" u="none">
                <a:solidFill>
                  <a:srgbClr val="331B0D"/>
                </a:solidFill>
                <a:latin typeface="Open Sauce"/>
                <a:ea typeface="Open Sauce"/>
                <a:cs typeface="Open Sauce"/>
                <a:sym typeface="Open Sauce"/>
              </a:rPr>
              <a:t>d</a:t>
            </a:r>
            <a:r>
              <a:rPr lang="en-US" sz="2400" strike="noStrike" u="none">
                <a:solidFill>
                  <a:srgbClr val="331B0D"/>
                </a:solidFill>
                <a:latin typeface="Open Sauce"/>
                <a:ea typeface="Open Sauce"/>
                <a:cs typeface="Open Sauce"/>
                <a:sym typeface="Open Sauce"/>
              </a:rPr>
              <a:t> to </a:t>
            </a:r>
            <a:r>
              <a:rPr lang="en-US" sz="2400" strike="noStrike" u="none">
                <a:solidFill>
                  <a:srgbClr val="331B0D"/>
                </a:solidFill>
                <a:latin typeface="Open Sauce"/>
                <a:ea typeface="Open Sauce"/>
                <a:cs typeface="Open Sauce"/>
                <a:sym typeface="Open Sauce"/>
              </a:rPr>
              <a:t>impl</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m</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nt</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str</a:t>
            </a:r>
            <a:r>
              <a:rPr lang="en-US" sz="2400" strike="noStrike" u="none">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tegic</a:t>
            </a:r>
            <a:r>
              <a:rPr lang="en-US" sz="2400" strike="noStrike" u="none">
                <a:solidFill>
                  <a:srgbClr val="331B0D"/>
                </a:solidFill>
                <a:latin typeface="Open Sauce"/>
                <a:ea typeface="Open Sauce"/>
                <a:cs typeface="Open Sauce"/>
                <a:sym typeface="Open Sauce"/>
              </a:rPr>
              <a:t> wa</a:t>
            </a:r>
            <a:r>
              <a:rPr lang="en-US" sz="2400" strike="noStrike" u="none">
                <a:solidFill>
                  <a:srgbClr val="331B0D"/>
                </a:solidFill>
                <a:latin typeface="Open Sauce"/>
                <a:ea typeface="Open Sauce"/>
                <a:cs typeface="Open Sauce"/>
                <a:sym typeface="Open Sauce"/>
              </a:rPr>
              <a:t>i</a:t>
            </a:r>
            <a:r>
              <a:rPr lang="en-US" sz="2400" strike="noStrike" u="none">
                <a:solidFill>
                  <a:srgbClr val="331B0D"/>
                </a:solidFill>
                <a:latin typeface="Open Sauce"/>
                <a:ea typeface="Open Sauce"/>
                <a:cs typeface="Open Sauce"/>
                <a:sym typeface="Open Sauce"/>
              </a:rPr>
              <a:t>t t</a:t>
            </a:r>
            <a:r>
              <a:rPr lang="en-US" sz="2400" strike="noStrike" u="none">
                <a:solidFill>
                  <a:srgbClr val="331B0D"/>
                </a:solidFill>
                <a:latin typeface="Open Sauce"/>
                <a:ea typeface="Open Sauce"/>
                <a:cs typeface="Open Sauce"/>
                <a:sym typeface="Open Sauce"/>
              </a:rPr>
              <a:t>imes</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(time.s</a:t>
            </a:r>
            <a:r>
              <a:rPr lang="en-US" sz="2400" strike="noStrike" u="none">
                <a:solidFill>
                  <a:srgbClr val="331B0D"/>
                </a:solidFill>
                <a:latin typeface="Open Sauce"/>
                <a:ea typeface="Open Sauce"/>
                <a:cs typeface="Open Sauce"/>
                <a:sym typeface="Open Sauce"/>
              </a:rPr>
              <a:t>le</a:t>
            </a:r>
            <a:r>
              <a:rPr lang="en-US" sz="2400" strike="noStrike" u="none">
                <a:solidFill>
                  <a:srgbClr val="331B0D"/>
                </a:solidFill>
                <a:latin typeface="Open Sauce"/>
                <a:ea typeface="Open Sauce"/>
                <a:cs typeface="Open Sauce"/>
                <a:sym typeface="Open Sauce"/>
              </a:rPr>
              <a:t>ep)</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and</a:t>
            </a:r>
            <a:r>
              <a:rPr lang="en-US" sz="2400" strike="noStrike" u="none">
                <a:solidFill>
                  <a:srgbClr val="331B0D"/>
                </a:solidFill>
                <a:latin typeface="Open Sauce"/>
                <a:ea typeface="Open Sauce"/>
                <a:cs typeface="Open Sauce"/>
                <a:sym typeface="Open Sauce"/>
              </a:rPr>
              <a:t> ro</a:t>
            </a:r>
            <a:r>
              <a:rPr lang="en-US" sz="2400" strike="noStrike" u="none">
                <a:solidFill>
                  <a:srgbClr val="331B0D"/>
                </a:solidFill>
                <a:latin typeface="Open Sauce"/>
                <a:ea typeface="Open Sauce"/>
                <a:cs typeface="Open Sauce"/>
                <a:sym typeface="Open Sauce"/>
              </a:rPr>
              <a:t>bus</a:t>
            </a:r>
            <a:r>
              <a:rPr lang="en-US" sz="2400" strike="noStrike" u="none">
                <a:solidFill>
                  <a:srgbClr val="331B0D"/>
                </a:solidFill>
                <a:latin typeface="Open Sauce"/>
                <a:ea typeface="Open Sauce"/>
                <a:cs typeface="Open Sauce"/>
                <a:sym typeface="Open Sauce"/>
              </a:rPr>
              <a:t>t</a:t>
            </a:r>
            <a:r>
              <a:rPr lang="en-US" sz="2400" strike="noStrike" u="none">
                <a:solidFill>
                  <a:srgbClr val="331B0D"/>
                </a:solidFill>
                <a:latin typeface="Open Sauce"/>
                <a:ea typeface="Open Sauce"/>
                <a:cs typeface="Open Sauce"/>
                <a:sym typeface="Open Sauce"/>
              </a:rPr>
              <a:t> w</a:t>
            </a:r>
            <a:r>
              <a:rPr lang="en-US" sz="2400" strike="noStrike" u="none">
                <a:solidFill>
                  <a:srgbClr val="331B0D"/>
                </a:solidFill>
                <a:latin typeface="Open Sauce"/>
                <a:ea typeface="Open Sauce"/>
                <a:cs typeface="Open Sauce"/>
                <a:sym typeface="Open Sauce"/>
              </a:rPr>
              <a:t>i</a:t>
            </a:r>
            <a:r>
              <a:rPr lang="en-US" sz="2400" strike="noStrike" u="none">
                <a:solidFill>
                  <a:srgbClr val="331B0D"/>
                </a:solidFill>
                <a:latin typeface="Open Sauce"/>
                <a:ea typeface="Open Sauce"/>
                <a:cs typeface="Open Sauce"/>
                <a:sym typeface="Open Sauce"/>
              </a:rPr>
              <a:t>ndow-focus</a:t>
            </a:r>
            <a:r>
              <a:rPr lang="en-US" sz="2400" strike="noStrike" u="none">
                <a:solidFill>
                  <a:srgbClr val="331B0D"/>
                </a:solidFill>
                <a:latin typeface="Open Sauce"/>
                <a:ea typeface="Open Sauce"/>
                <a:cs typeface="Open Sauce"/>
                <a:sym typeface="Open Sauce"/>
              </a:rPr>
              <a:t>ing </a:t>
            </a:r>
            <a:r>
              <a:rPr lang="en-US" sz="2400" strike="noStrike" u="none">
                <a:solidFill>
                  <a:srgbClr val="331B0D"/>
                </a:solidFill>
                <a:latin typeface="Open Sauce"/>
                <a:ea typeface="Open Sauce"/>
                <a:cs typeface="Open Sauce"/>
                <a:sym typeface="Open Sauce"/>
              </a:rPr>
              <a:t>algori</a:t>
            </a:r>
            <a:r>
              <a:rPr lang="en-US" sz="2400" strike="noStrike" u="none">
                <a:solidFill>
                  <a:srgbClr val="331B0D"/>
                </a:solidFill>
                <a:latin typeface="Open Sauce"/>
                <a:ea typeface="Open Sauce"/>
                <a:cs typeface="Open Sauce"/>
                <a:sym typeface="Open Sauce"/>
              </a:rPr>
              <a:t>thms</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t</a:t>
            </a:r>
            <a:r>
              <a:rPr lang="en-US" sz="2400" strike="noStrike" u="none">
                <a:solidFill>
                  <a:srgbClr val="331B0D"/>
                </a:solidFill>
                <a:latin typeface="Open Sauce"/>
                <a:ea typeface="Open Sauce"/>
                <a:cs typeface="Open Sauce"/>
                <a:sym typeface="Open Sauce"/>
              </a:rPr>
              <a:t>o</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ens</a:t>
            </a:r>
            <a:r>
              <a:rPr lang="en-US" sz="2400" strike="noStrike" u="none">
                <a:solidFill>
                  <a:srgbClr val="331B0D"/>
                </a:solidFill>
                <a:latin typeface="Open Sauce"/>
                <a:ea typeface="Open Sauce"/>
                <a:cs typeface="Open Sauce"/>
                <a:sym typeface="Open Sauce"/>
              </a:rPr>
              <a:t>u</a:t>
            </a:r>
            <a:r>
              <a:rPr lang="en-US" sz="2400" strike="noStrike" u="none">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e </a:t>
            </a:r>
            <a:r>
              <a:rPr lang="en-US" sz="2400" strike="noStrike" u="none">
                <a:solidFill>
                  <a:srgbClr val="331B0D"/>
                </a:solidFill>
                <a:latin typeface="Open Sauce"/>
                <a:ea typeface="Open Sauce"/>
                <a:cs typeface="Open Sauce"/>
                <a:sym typeface="Open Sauce"/>
              </a:rPr>
              <a:t>per</a:t>
            </a:r>
            <a:r>
              <a:rPr lang="en-US" sz="2400" strike="noStrike" u="none">
                <a:solidFill>
                  <a:srgbClr val="331B0D"/>
                </a:solidFill>
                <a:latin typeface="Open Sauce"/>
                <a:ea typeface="Open Sauce"/>
                <a:cs typeface="Open Sauce"/>
                <a:sym typeface="Open Sauce"/>
              </a:rPr>
              <a:t>fe</a:t>
            </a:r>
            <a:r>
              <a:rPr lang="en-US" sz="2400" strike="noStrike" u="none">
                <a:solidFill>
                  <a:srgbClr val="331B0D"/>
                </a:solidFill>
                <a:latin typeface="Open Sauce"/>
                <a:ea typeface="Open Sauce"/>
                <a:cs typeface="Open Sauce"/>
                <a:sym typeface="Open Sauce"/>
              </a:rPr>
              <a:t>ct synchroniz</a:t>
            </a:r>
            <a:r>
              <a:rPr lang="en-US" sz="2400" strike="noStrike" u="none">
                <a:solidFill>
                  <a:srgbClr val="331B0D"/>
                </a:solidFill>
                <a:latin typeface="Open Sauce"/>
                <a:ea typeface="Open Sauce"/>
                <a:cs typeface="Open Sauce"/>
                <a:sym typeface="Open Sauce"/>
              </a:rPr>
              <a:t>at</a:t>
            </a:r>
            <a:r>
              <a:rPr lang="en-US" sz="2400" strike="noStrike" u="none">
                <a:solidFill>
                  <a:srgbClr val="331B0D"/>
                </a:solidFill>
                <a:latin typeface="Open Sauce"/>
                <a:ea typeface="Open Sauce"/>
                <a:cs typeface="Open Sauce"/>
                <a:sym typeface="Open Sauce"/>
              </a:rPr>
              <a:t>ion b</a:t>
            </a:r>
            <a:r>
              <a:rPr lang="en-US" sz="2400" strike="noStrike" u="none">
                <a:solidFill>
                  <a:srgbClr val="331B0D"/>
                </a:solidFill>
                <a:latin typeface="Open Sauce"/>
                <a:ea typeface="Open Sauce"/>
                <a:cs typeface="Open Sauce"/>
                <a:sym typeface="Open Sauce"/>
              </a:rPr>
              <a:t>e</a:t>
            </a:r>
            <a:r>
              <a:rPr lang="en-US" sz="2400" strike="noStrike" u="none">
                <a:solidFill>
                  <a:srgbClr val="331B0D"/>
                </a:solidFill>
                <a:latin typeface="Open Sauce"/>
                <a:ea typeface="Open Sauce"/>
                <a:cs typeface="Open Sauce"/>
                <a:sym typeface="Open Sauce"/>
              </a:rPr>
              <a:t>tw</a:t>
            </a:r>
            <a:r>
              <a:rPr lang="en-US" sz="2400" strike="noStrike" u="none">
                <a:solidFill>
                  <a:srgbClr val="331B0D"/>
                </a:solidFill>
                <a:latin typeface="Open Sauce"/>
                <a:ea typeface="Open Sauce"/>
                <a:cs typeface="Open Sauce"/>
                <a:sym typeface="Open Sauce"/>
              </a:rPr>
              <a:t>ee</a:t>
            </a:r>
            <a:r>
              <a:rPr lang="en-US" sz="2400" strike="noStrike" u="none">
                <a:solidFill>
                  <a:srgbClr val="331B0D"/>
                </a:solidFill>
                <a:latin typeface="Open Sauce"/>
                <a:ea typeface="Open Sauce"/>
                <a:cs typeface="Open Sauce"/>
                <a:sym typeface="Open Sauce"/>
              </a:rPr>
              <a:t>n</a:t>
            </a:r>
            <a:r>
              <a:rPr lang="en-US" sz="2400" strike="noStrike" u="none">
                <a:solidFill>
                  <a:srgbClr val="331B0D"/>
                </a:solidFill>
                <a:latin typeface="Open Sauce"/>
                <a:ea typeface="Open Sauce"/>
                <a:cs typeface="Open Sauce"/>
                <a:sym typeface="Open Sauce"/>
              </a:rPr>
              <a:t> s</a:t>
            </a:r>
            <a:r>
              <a:rPr lang="en-US" sz="2400" strike="noStrike" u="none">
                <a:solidFill>
                  <a:srgbClr val="331B0D"/>
                </a:solidFill>
                <a:latin typeface="Open Sauce"/>
                <a:ea typeface="Open Sauce"/>
                <a:cs typeface="Open Sauce"/>
                <a:sym typeface="Open Sauce"/>
              </a:rPr>
              <a:t>oftware</a:t>
            </a:r>
            <a:r>
              <a:rPr lang="en-US" sz="2400" strike="noStrike" u="none">
                <a:solidFill>
                  <a:srgbClr val="331B0D"/>
                </a:solidFill>
                <a:latin typeface="Open Sauce"/>
                <a:ea typeface="Open Sauce"/>
                <a:cs typeface="Open Sauce"/>
                <a:sym typeface="Open Sauce"/>
              </a:rPr>
              <a:t> sta</a:t>
            </a:r>
            <a:r>
              <a:rPr lang="en-US" sz="2400" strike="noStrike" u="none">
                <a:solidFill>
                  <a:srgbClr val="331B0D"/>
                </a:solidFill>
                <a:latin typeface="Open Sauce"/>
                <a:ea typeface="Open Sauce"/>
                <a:cs typeface="Open Sauce"/>
                <a:sym typeface="Open Sauce"/>
              </a:rPr>
              <a:t>te</a:t>
            </a:r>
            <a:r>
              <a:rPr lang="en-US" sz="2400" strike="noStrike" u="none">
                <a:solidFill>
                  <a:srgbClr val="331B0D"/>
                </a:solidFill>
                <a:latin typeface="Open Sauce"/>
                <a:ea typeface="Open Sauce"/>
                <a:cs typeface="Open Sauce"/>
                <a:sym typeface="Open Sauce"/>
              </a:rPr>
              <a:t> c</a:t>
            </a:r>
            <a:r>
              <a:rPr lang="en-US" sz="2400" strike="noStrike" u="none">
                <a:solidFill>
                  <a:srgbClr val="331B0D"/>
                </a:solidFill>
                <a:latin typeface="Open Sauce"/>
                <a:ea typeface="Open Sauce"/>
                <a:cs typeface="Open Sauce"/>
                <a:sym typeface="Open Sauce"/>
              </a:rPr>
              <a:t>hange</a:t>
            </a:r>
            <a:r>
              <a:rPr lang="en-US" sz="2400" strike="noStrike" u="none">
                <a:solidFill>
                  <a:srgbClr val="331B0D"/>
                </a:solidFill>
                <a:latin typeface="Open Sauce"/>
                <a:ea typeface="Open Sauce"/>
                <a:cs typeface="Open Sauce"/>
                <a:sym typeface="Open Sauce"/>
              </a:rPr>
              <a:t>s.</a:t>
            </a:r>
          </a:p>
        </p:txBody>
      </p:sp>
      <p:sp>
        <p:nvSpPr>
          <p:cNvPr name="TextBox 6" id="6"/>
          <p:cNvSpPr txBox="true"/>
          <p:nvPr/>
        </p:nvSpPr>
        <p:spPr>
          <a:xfrm rot="0">
            <a:off x="1028700" y="3561343"/>
            <a:ext cx="4808168" cy="424180"/>
          </a:xfrm>
          <a:prstGeom prst="rect">
            <a:avLst/>
          </a:prstGeom>
        </p:spPr>
        <p:txBody>
          <a:bodyPr anchor="t" rtlCol="false" tIns="0" lIns="0" bIns="0" rIns="0">
            <a:spAutoFit/>
          </a:bodyPr>
          <a:lstStyle/>
          <a:p>
            <a:pPr algn="l">
              <a:lnSpc>
                <a:spcPts val="3200"/>
              </a:lnSpc>
            </a:pPr>
            <a:r>
              <a:rPr lang="en-US" sz="3200" spc="-192">
                <a:solidFill>
                  <a:srgbClr val="331B0D"/>
                </a:solidFill>
                <a:latin typeface="Open Sauce"/>
                <a:ea typeface="Open Sauce"/>
                <a:cs typeface="Open Sauce"/>
                <a:sym typeface="Open Sauce"/>
              </a:rPr>
              <a:t>GUI Synchronization</a:t>
            </a:r>
          </a:p>
        </p:txBody>
      </p:sp>
      <p:sp>
        <p:nvSpPr>
          <p:cNvPr name="TextBox 7" id="7"/>
          <p:cNvSpPr txBox="true"/>
          <p:nvPr/>
        </p:nvSpPr>
        <p:spPr>
          <a:xfrm rot="0">
            <a:off x="9372138" y="5019961"/>
            <a:ext cx="4676210"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8C7753"/>
                </a:solidFill>
                <a:latin typeface="Open Sauce Bold"/>
                <a:ea typeface="Open Sauce Bold"/>
                <a:cs typeface="Open Sauce Bold"/>
                <a:sym typeface="Open Sauce Bold"/>
              </a:rPr>
              <a:t>B</a:t>
            </a:r>
            <a:r>
              <a:rPr lang="en-US" b="true" sz="2400" strike="noStrike" u="none">
                <a:solidFill>
                  <a:srgbClr val="8C7753"/>
                </a:solidFill>
                <a:latin typeface="Open Sauce Bold"/>
                <a:ea typeface="Open Sauce Bold"/>
                <a:cs typeface="Open Sauce Bold"/>
                <a:sym typeface="Open Sauce Bold"/>
              </a:rPr>
              <a:t>ridging Closed</a:t>
            </a:r>
            <a:r>
              <a:rPr lang="en-US" b="true" sz="2400" strike="noStrike" u="none">
                <a:solidFill>
                  <a:srgbClr val="8C7753"/>
                </a:solidFill>
                <a:latin typeface="Open Sauce Bold"/>
                <a:ea typeface="Open Sauce Bold"/>
                <a:cs typeface="Open Sauce Bold"/>
                <a:sym typeface="Open Sauce Bold"/>
              </a:rPr>
              <a:t> Systems</a:t>
            </a:r>
          </a:p>
        </p:txBody>
      </p:sp>
      <p:sp>
        <p:nvSpPr>
          <p:cNvPr name="TextBox 8" id="8"/>
          <p:cNvSpPr txBox="true"/>
          <p:nvPr/>
        </p:nvSpPr>
        <p:spPr>
          <a:xfrm rot="0">
            <a:off x="9372138" y="5599081"/>
            <a:ext cx="5606820" cy="3859530"/>
          </a:xfrm>
          <a:prstGeom prst="rect">
            <a:avLst/>
          </a:prstGeom>
        </p:spPr>
        <p:txBody>
          <a:bodyPr anchor="t" rtlCol="false" tIns="0" lIns="0" bIns="0" rIns="0">
            <a:spAutoFit/>
          </a:bodyPr>
          <a:lstStyle/>
          <a:p>
            <a:pPr algn="l" marL="0" indent="0" lvl="0">
              <a:lnSpc>
                <a:spcPts val="3840"/>
              </a:lnSpc>
              <a:spcBef>
                <a:spcPct val="0"/>
              </a:spcBef>
            </a:pPr>
            <a:r>
              <a:rPr lang="en-US" sz="2400">
                <a:solidFill>
                  <a:srgbClr val="331B0D"/>
                </a:solidFill>
                <a:latin typeface="Open Sauce"/>
                <a:ea typeface="Open Sauce"/>
                <a:cs typeface="Open Sauce"/>
                <a:sym typeface="Open Sauce"/>
              </a:rPr>
              <a:t>Fusion</a:t>
            </a:r>
            <a:r>
              <a:rPr lang="en-US" sz="2400" strike="noStrike" u="none">
                <a:solidFill>
                  <a:srgbClr val="331B0D"/>
                </a:solidFill>
                <a:latin typeface="Open Sauce"/>
                <a:ea typeface="Open Sauce"/>
                <a:cs typeface="Open Sauce"/>
                <a:sym typeface="Open Sauce"/>
              </a:rPr>
              <a:t> 360 and</a:t>
            </a:r>
            <a:r>
              <a:rPr lang="en-US" sz="2400" strike="noStrike" u="none">
                <a:solidFill>
                  <a:srgbClr val="331B0D"/>
                </a:solidFill>
                <a:latin typeface="Open Sauce"/>
                <a:ea typeface="Open Sauce"/>
                <a:cs typeface="Open Sauce"/>
                <a:sym typeface="Open Sauce"/>
              </a:rPr>
              <a:t> ANSYS Mech</a:t>
            </a:r>
            <a:r>
              <a:rPr lang="en-US" sz="2400" strike="noStrike" u="none">
                <a:solidFill>
                  <a:srgbClr val="331B0D"/>
                </a:solidFill>
                <a:latin typeface="Open Sauce"/>
                <a:ea typeface="Open Sauce"/>
                <a:cs typeface="Open Sauce"/>
                <a:sym typeface="Open Sauce"/>
              </a:rPr>
              <a:t>anic</a:t>
            </a:r>
            <a:r>
              <a:rPr lang="en-US" sz="2400" strike="noStrike" u="none">
                <a:solidFill>
                  <a:srgbClr val="331B0D"/>
                </a:solidFill>
                <a:latin typeface="Open Sauce"/>
                <a:ea typeface="Open Sauce"/>
                <a:cs typeface="Open Sauce"/>
                <a:sym typeface="Open Sauce"/>
              </a:rPr>
              <a:t>al</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d</a:t>
            </a:r>
            <a:r>
              <a:rPr lang="en-US" sz="2400" strike="noStrike" u="none">
                <a:solidFill>
                  <a:srgbClr val="331B0D"/>
                </a:solidFill>
                <a:latin typeface="Open Sauce"/>
                <a:ea typeface="Open Sauce"/>
                <a:cs typeface="Open Sauce"/>
                <a:sym typeface="Open Sauce"/>
              </a:rPr>
              <a:t>o</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n</a:t>
            </a:r>
            <a:r>
              <a:rPr lang="en-US" sz="2400" strike="noStrike" u="none">
                <a:solidFill>
                  <a:srgbClr val="331B0D"/>
                </a:solidFill>
                <a:latin typeface="Open Sauce"/>
                <a:ea typeface="Open Sauce"/>
                <a:cs typeface="Open Sauce"/>
                <a:sym typeface="Open Sauce"/>
              </a:rPr>
              <a:t>ot native</a:t>
            </a:r>
            <a:r>
              <a:rPr lang="en-US" sz="2400" strike="noStrike" u="none">
                <a:solidFill>
                  <a:srgbClr val="331B0D"/>
                </a:solidFill>
                <a:latin typeface="Open Sauce"/>
                <a:ea typeface="Open Sauce"/>
                <a:cs typeface="Open Sauce"/>
                <a:sym typeface="Open Sauce"/>
              </a:rPr>
              <a:t>l</a:t>
            </a:r>
            <a:r>
              <a:rPr lang="en-US" sz="2400" strike="noStrike" u="none">
                <a:solidFill>
                  <a:srgbClr val="331B0D"/>
                </a:solidFill>
                <a:latin typeface="Open Sauce"/>
                <a:ea typeface="Open Sauce"/>
                <a:cs typeface="Open Sauce"/>
                <a:sym typeface="Open Sauce"/>
              </a:rPr>
              <a:t>y commun</a:t>
            </a:r>
            <a:r>
              <a:rPr lang="en-US" sz="2400" strike="noStrike" u="none">
                <a:solidFill>
                  <a:srgbClr val="331B0D"/>
                </a:solidFill>
                <a:latin typeface="Open Sauce"/>
                <a:ea typeface="Open Sauce"/>
                <a:cs typeface="Open Sauce"/>
                <a:sym typeface="Open Sauce"/>
              </a:rPr>
              <a:t>ic</a:t>
            </a:r>
            <a:r>
              <a:rPr lang="en-US" sz="2400" strike="noStrike" u="none">
                <a:solidFill>
                  <a:srgbClr val="331B0D"/>
                </a:solidFill>
                <a:latin typeface="Open Sauce"/>
                <a:ea typeface="Open Sauce"/>
                <a:cs typeface="Open Sauce"/>
                <a:sym typeface="Open Sauce"/>
              </a:rPr>
              <a:t>a</a:t>
            </a:r>
            <a:r>
              <a:rPr lang="en-US" sz="2400" strike="noStrike" u="none">
                <a:solidFill>
                  <a:srgbClr val="331B0D"/>
                </a:solidFill>
                <a:latin typeface="Open Sauce"/>
                <a:ea typeface="Open Sauce"/>
                <a:cs typeface="Open Sauce"/>
                <a:sym typeface="Open Sauce"/>
              </a:rPr>
              <a:t>te. We over</a:t>
            </a:r>
            <a:r>
              <a:rPr lang="en-US" sz="2400" strike="noStrike" u="none">
                <a:solidFill>
                  <a:srgbClr val="331B0D"/>
                </a:solidFill>
                <a:latin typeface="Open Sauce"/>
                <a:ea typeface="Open Sauce"/>
                <a:cs typeface="Open Sauce"/>
                <a:sym typeface="Open Sauce"/>
              </a:rPr>
              <a:t>came</a:t>
            </a:r>
            <a:r>
              <a:rPr lang="en-US" sz="2400" strike="noStrike" u="none">
                <a:solidFill>
                  <a:srgbClr val="331B0D"/>
                </a:solidFill>
                <a:latin typeface="Open Sauce"/>
                <a:ea typeface="Open Sauce"/>
                <a:cs typeface="Open Sauce"/>
                <a:sym typeface="Open Sauce"/>
              </a:rPr>
              <a:t> this by engin</a:t>
            </a:r>
            <a:r>
              <a:rPr lang="en-US" sz="2400" strike="noStrike" u="none">
                <a:solidFill>
                  <a:srgbClr val="331B0D"/>
                </a:solidFill>
                <a:latin typeface="Open Sauce"/>
                <a:ea typeface="Open Sauce"/>
                <a:cs typeface="Open Sauce"/>
                <a:sym typeface="Open Sauce"/>
              </a:rPr>
              <a:t>eering</a:t>
            </a:r>
            <a:r>
              <a:rPr lang="en-US" sz="2400" strike="noStrike" u="none">
                <a:solidFill>
                  <a:srgbClr val="331B0D"/>
                </a:solidFill>
                <a:latin typeface="Open Sauce"/>
                <a:ea typeface="Open Sauce"/>
                <a:cs typeface="Open Sauce"/>
                <a:sym typeface="Open Sauce"/>
              </a:rPr>
              <a:t> a custom text-bas</a:t>
            </a:r>
            <a:r>
              <a:rPr lang="en-US" sz="2400" strike="noStrike" u="none">
                <a:solidFill>
                  <a:srgbClr val="331B0D"/>
                </a:solidFill>
                <a:latin typeface="Open Sauce"/>
                <a:ea typeface="Open Sauce"/>
                <a:cs typeface="Open Sauce"/>
                <a:sym typeface="Open Sauce"/>
              </a:rPr>
              <a:t>ed</a:t>
            </a:r>
            <a:r>
              <a:rPr lang="en-US" sz="2400" strike="noStrike" u="none">
                <a:solidFill>
                  <a:srgbClr val="331B0D"/>
                </a:solidFill>
                <a:latin typeface="Open Sauce"/>
                <a:ea typeface="Open Sauce"/>
                <a:cs typeface="Open Sauce"/>
                <a:sym typeface="Open Sauce"/>
              </a:rPr>
              <a:t> "data bridg</a:t>
            </a:r>
            <a:r>
              <a:rPr lang="en-US" sz="2400" strike="noStrike" u="none">
                <a:solidFill>
                  <a:srgbClr val="331B0D"/>
                </a:solidFill>
                <a:latin typeface="Open Sauce"/>
                <a:ea typeface="Open Sauce"/>
                <a:cs typeface="Open Sauce"/>
                <a:sym typeface="Open Sauce"/>
              </a:rPr>
              <a:t>e" (us</a:t>
            </a:r>
            <a:r>
              <a:rPr lang="en-US" sz="2400" strike="noStrike" u="none">
                <a:solidFill>
                  <a:srgbClr val="331B0D"/>
                </a:solidFill>
                <a:latin typeface="Open Sauce"/>
                <a:ea typeface="Open Sauce"/>
                <a:cs typeface="Open Sauce"/>
                <a:sym typeface="Open Sauce"/>
              </a:rPr>
              <a:t>ing </a:t>
            </a:r>
            <a:r>
              <a:rPr lang="en-US" sz="2400" strike="noStrike" u="none">
                <a:solidFill>
                  <a:srgbClr val="331B0D"/>
                </a:solidFill>
                <a:latin typeface="Open Sauce"/>
                <a:ea typeface="Open Sauce"/>
                <a:cs typeface="Open Sauce"/>
                <a:sym typeface="Open Sauce"/>
              </a:rPr>
              <a:t>.</a:t>
            </a:r>
            <a:r>
              <a:rPr lang="en-US" sz="2400" strike="noStrike" u="none">
                <a:solidFill>
                  <a:srgbClr val="331B0D"/>
                </a:solidFill>
                <a:latin typeface="Open Sauce"/>
                <a:ea typeface="Open Sauce"/>
                <a:cs typeface="Open Sauce"/>
                <a:sym typeface="Open Sauce"/>
              </a:rPr>
              <a:t>t</a:t>
            </a:r>
            <a:r>
              <a:rPr lang="en-US" sz="2400" strike="noStrike" u="none">
                <a:solidFill>
                  <a:srgbClr val="331B0D"/>
                </a:solidFill>
                <a:latin typeface="Open Sauce"/>
                <a:ea typeface="Open Sauce"/>
                <a:cs typeface="Open Sauce"/>
                <a:sym typeface="Open Sauce"/>
              </a:rPr>
              <a:t>xt</a:t>
            </a:r>
            <a:r>
              <a:rPr lang="en-US" sz="2400" strike="noStrike" u="none">
                <a:solidFill>
                  <a:srgbClr val="331B0D"/>
                </a:solidFill>
                <a:latin typeface="Open Sauce"/>
                <a:ea typeface="Open Sauce"/>
                <a:cs typeface="Open Sauce"/>
                <a:sym typeface="Open Sauce"/>
              </a:rPr>
              <a:t> and</a:t>
            </a:r>
            <a:r>
              <a:rPr lang="en-US" sz="2400" strike="noStrike" u="none">
                <a:solidFill>
                  <a:srgbClr val="331B0D"/>
                </a:solidFill>
                <a:latin typeface="Open Sauce"/>
                <a:ea typeface="Open Sauce"/>
                <a:cs typeface="Open Sauce"/>
                <a:sym typeface="Open Sauce"/>
              </a:rPr>
              <a:t> .</a:t>
            </a:r>
            <a:r>
              <a:rPr lang="en-US" sz="2400" strike="noStrike" u="none">
                <a:solidFill>
                  <a:srgbClr val="331B0D"/>
                </a:solidFill>
                <a:latin typeface="Open Sauce"/>
                <a:ea typeface="Open Sauce"/>
                <a:cs typeface="Open Sauce"/>
                <a:sym typeface="Open Sauce"/>
              </a:rPr>
              <a:t>step fi</a:t>
            </a:r>
            <a:r>
              <a:rPr lang="en-US" sz="2400" strike="noStrike" u="none">
                <a:solidFill>
                  <a:srgbClr val="331B0D"/>
                </a:solidFill>
                <a:latin typeface="Open Sauce"/>
                <a:ea typeface="Open Sauce"/>
                <a:cs typeface="Open Sauce"/>
                <a:sym typeface="Open Sauce"/>
              </a:rPr>
              <a:t>les) </a:t>
            </a:r>
            <a:r>
              <a:rPr lang="en-US" sz="2400" strike="noStrike" u="none">
                <a:solidFill>
                  <a:srgbClr val="331B0D"/>
                </a:solidFill>
                <a:latin typeface="Open Sauce"/>
                <a:ea typeface="Open Sauce"/>
                <a:cs typeface="Open Sauce"/>
                <a:sym typeface="Open Sauce"/>
              </a:rPr>
              <a:t>that al</a:t>
            </a:r>
            <a:r>
              <a:rPr lang="en-US" sz="2400" strike="noStrike" u="none">
                <a:solidFill>
                  <a:srgbClr val="331B0D"/>
                </a:solidFill>
                <a:latin typeface="Open Sauce"/>
                <a:ea typeface="Open Sauce"/>
                <a:cs typeface="Open Sauce"/>
                <a:sym typeface="Open Sauce"/>
              </a:rPr>
              <a:t>l</a:t>
            </a:r>
            <a:r>
              <a:rPr lang="en-US" sz="2400" strike="noStrike" u="none">
                <a:solidFill>
                  <a:srgbClr val="331B0D"/>
                </a:solidFill>
                <a:latin typeface="Open Sauce"/>
                <a:ea typeface="Open Sauce"/>
                <a:cs typeface="Open Sauce"/>
                <a:sym typeface="Open Sauce"/>
              </a:rPr>
              <a:t>o</a:t>
            </a:r>
            <a:r>
              <a:rPr lang="en-US" sz="2400" strike="noStrike" u="none">
                <a:solidFill>
                  <a:srgbClr val="331B0D"/>
                </a:solidFill>
                <a:latin typeface="Open Sauce"/>
                <a:ea typeface="Open Sauce"/>
                <a:cs typeface="Open Sauce"/>
                <a:sym typeface="Open Sauce"/>
              </a:rPr>
              <a:t>w</a:t>
            </a:r>
            <a:r>
              <a:rPr lang="en-US" sz="2400" strike="noStrike" u="none">
                <a:solidFill>
                  <a:srgbClr val="331B0D"/>
                </a:solidFill>
                <a:latin typeface="Open Sauce"/>
                <a:ea typeface="Open Sauce"/>
                <a:cs typeface="Open Sauce"/>
                <a:sym typeface="Open Sauce"/>
              </a:rPr>
              <a:t>ed Python to seamlessly pas</a:t>
            </a:r>
            <a:r>
              <a:rPr lang="en-US" sz="2400" strike="noStrike" u="none">
                <a:solidFill>
                  <a:srgbClr val="331B0D"/>
                </a:solidFill>
                <a:latin typeface="Open Sauce"/>
                <a:ea typeface="Open Sauce"/>
                <a:cs typeface="Open Sauce"/>
                <a:sym typeface="Open Sauce"/>
              </a:rPr>
              <a:t>s</a:t>
            </a:r>
            <a:r>
              <a:rPr lang="en-US" sz="2400" strike="noStrike" u="none">
                <a:solidFill>
                  <a:srgbClr val="331B0D"/>
                </a:solidFill>
                <a:latin typeface="Open Sauce"/>
                <a:ea typeface="Open Sauce"/>
                <a:cs typeface="Open Sauce"/>
                <a:sym typeface="Open Sauce"/>
              </a:rPr>
              <a:t> target dimensions and ext</a:t>
            </a:r>
            <a:r>
              <a:rPr lang="en-US" sz="2400" strike="noStrike" u="none">
                <a:solidFill>
                  <a:srgbClr val="331B0D"/>
                </a:solidFill>
                <a:latin typeface="Open Sauce"/>
                <a:ea typeface="Open Sauce"/>
                <a:cs typeface="Open Sauce"/>
                <a:sym typeface="Open Sauce"/>
              </a:rPr>
              <a:t>r</a:t>
            </a:r>
            <a:r>
              <a:rPr lang="en-US" sz="2400" strike="noStrike" u="none">
                <a:solidFill>
                  <a:srgbClr val="331B0D"/>
                </a:solidFill>
                <a:latin typeface="Open Sauce"/>
                <a:ea typeface="Open Sauce"/>
                <a:cs typeface="Open Sauce"/>
                <a:sym typeface="Open Sauce"/>
              </a:rPr>
              <a:t>act st</a:t>
            </a:r>
            <a:r>
              <a:rPr lang="en-US" sz="2400" strike="noStrike" u="none">
                <a:solidFill>
                  <a:srgbClr val="331B0D"/>
                </a:solidFill>
                <a:latin typeface="Open Sauce"/>
                <a:ea typeface="Open Sauce"/>
                <a:cs typeface="Open Sauce"/>
                <a:sym typeface="Open Sauce"/>
              </a:rPr>
              <a:t>ress</a:t>
            </a:r>
            <a:r>
              <a:rPr lang="en-US" sz="2400" strike="noStrike" u="none">
                <a:solidFill>
                  <a:srgbClr val="331B0D"/>
                </a:solidFill>
                <a:latin typeface="Open Sauce"/>
                <a:ea typeface="Open Sauce"/>
                <a:cs typeface="Open Sauce"/>
                <a:sym typeface="Open Sauce"/>
              </a:rPr>
              <a:t> resu</a:t>
            </a:r>
            <a:r>
              <a:rPr lang="en-US" sz="2400" strike="noStrike" u="none">
                <a:solidFill>
                  <a:srgbClr val="331B0D"/>
                </a:solidFill>
                <a:latin typeface="Open Sauce"/>
                <a:ea typeface="Open Sauce"/>
                <a:cs typeface="Open Sauce"/>
                <a:sym typeface="Open Sauce"/>
              </a:rPr>
              <a:t>l</a:t>
            </a:r>
            <a:r>
              <a:rPr lang="en-US" sz="2400" strike="noStrike" u="none">
                <a:solidFill>
                  <a:srgbClr val="331B0D"/>
                </a:solidFill>
                <a:latin typeface="Open Sauce"/>
                <a:ea typeface="Open Sauce"/>
                <a:cs typeface="Open Sauce"/>
                <a:sym typeface="Open Sauce"/>
              </a:rPr>
              <a:t>t</a:t>
            </a:r>
            <a:r>
              <a:rPr lang="en-US" sz="2400" strike="noStrike" u="none">
                <a:solidFill>
                  <a:srgbClr val="331B0D"/>
                </a:solidFill>
                <a:latin typeface="Open Sauce"/>
                <a:ea typeface="Open Sauce"/>
                <a:cs typeface="Open Sauce"/>
                <a:sym typeface="Open Sauce"/>
              </a:rPr>
              <a:t>s</a:t>
            </a:r>
            <a:r>
              <a:rPr lang="en-US" sz="2400" strike="noStrike" u="none">
                <a:solidFill>
                  <a:srgbClr val="331B0D"/>
                </a:solidFill>
                <a:latin typeface="Open Sauce"/>
                <a:ea typeface="Open Sauce"/>
                <a:cs typeface="Open Sauce"/>
                <a:sym typeface="Open Sauce"/>
              </a:rPr>
              <a:t> acr</a:t>
            </a:r>
            <a:r>
              <a:rPr lang="en-US" sz="2400" strike="noStrike" u="none">
                <a:solidFill>
                  <a:srgbClr val="331B0D"/>
                </a:solidFill>
                <a:latin typeface="Open Sauce"/>
                <a:ea typeface="Open Sauce"/>
                <a:cs typeface="Open Sauce"/>
                <a:sym typeface="Open Sauce"/>
              </a:rPr>
              <a:t>oss</a:t>
            </a:r>
            <a:r>
              <a:rPr lang="en-US" sz="2400" strike="noStrike" u="none">
                <a:solidFill>
                  <a:srgbClr val="331B0D"/>
                </a:solidFill>
                <a:latin typeface="Open Sauce"/>
                <a:ea typeface="Open Sauce"/>
                <a:cs typeface="Open Sauce"/>
                <a:sym typeface="Open Sauce"/>
              </a:rPr>
              <a:t> bo</a:t>
            </a:r>
            <a:r>
              <a:rPr lang="en-US" sz="2400" strike="noStrike" u="none">
                <a:solidFill>
                  <a:srgbClr val="331B0D"/>
                </a:solidFill>
                <a:latin typeface="Open Sauce"/>
                <a:ea typeface="Open Sauce"/>
                <a:cs typeface="Open Sauce"/>
                <a:sym typeface="Open Sauce"/>
              </a:rPr>
              <a:t>th p</a:t>
            </a:r>
            <a:r>
              <a:rPr lang="en-US" sz="2400" strike="noStrike" u="none">
                <a:solidFill>
                  <a:srgbClr val="331B0D"/>
                </a:solidFill>
                <a:latin typeface="Open Sauce"/>
                <a:ea typeface="Open Sauce"/>
                <a:cs typeface="Open Sauce"/>
                <a:sym typeface="Open Sauce"/>
              </a:rPr>
              <a:t>l</a:t>
            </a:r>
            <a:r>
              <a:rPr lang="en-US" sz="2400" strike="noStrike" u="none">
                <a:solidFill>
                  <a:srgbClr val="331B0D"/>
                </a:solidFill>
                <a:latin typeface="Open Sauce"/>
                <a:ea typeface="Open Sauce"/>
                <a:cs typeface="Open Sauce"/>
                <a:sym typeface="Open Sauce"/>
              </a:rPr>
              <a:t>atform</a:t>
            </a:r>
            <a:r>
              <a:rPr lang="en-US" sz="2400" strike="noStrike" u="none">
                <a:solidFill>
                  <a:srgbClr val="331B0D"/>
                </a:solidFill>
                <a:latin typeface="Open Sauce"/>
                <a:ea typeface="Open Sauce"/>
                <a:cs typeface="Open Sauce"/>
                <a:sym typeface="Open Sauce"/>
              </a:rPr>
              <a:t>s.</a:t>
            </a:r>
          </a:p>
        </p:txBody>
      </p:sp>
      <p:sp>
        <p:nvSpPr>
          <p:cNvPr name="TextBox 9" id="9"/>
          <p:cNvSpPr txBox="true"/>
          <p:nvPr/>
        </p:nvSpPr>
        <p:spPr>
          <a:xfrm rot="0">
            <a:off x="9372138" y="3561343"/>
            <a:ext cx="4808168" cy="424180"/>
          </a:xfrm>
          <a:prstGeom prst="rect">
            <a:avLst/>
          </a:prstGeom>
        </p:spPr>
        <p:txBody>
          <a:bodyPr anchor="t" rtlCol="false" tIns="0" lIns="0" bIns="0" rIns="0">
            <a:spAutoFit/>
          </a:bodyPr>
          <a:lstStyle/>
          <a:p>
            <a:pPr algn="l">
              <a:lnSpc>
                <a:spcPts val="3200"/>
              </a:lnSpc>
            </a:pPr>
            <a:r>
              <a:rPr lang="en-US" sz="3200" spc="-192">
                <a:solidFill>
                  <a:srgbClr val="331B0D"/>
                </a:solidFill>
                <a:latin typeface="Open Sauce"/>
                <a:ea typeface="Open Sauce"/>
                <a:cs typeface="Open Sauce"/>
                <a:sym typeface="Open Sauce"/>
              </a:rPr>
              <a:t>Software Ecosystems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BF7"/>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8891588" y="2579170"/>
            <a:ext cx="9028181" cy="6400248"/>
            <a:chOff x="0" y="0"/>
            <a:chExt cx="12037574" cy="8533663"/>
          </a:xfrm>
        </p:grpSpPr>
        <p:sp>
          <p:nvSpPr>
            <p:cNvPr name="Freeform 5" id="5"/>
            <p:cNvSpPr/>
            <p:nvPr/>
          </p:nvSpPr>
          <p:spPr>
            <a:xfrm flipH="false" flipV="false" rot="0">
              <a:off x="0" y="0"/>
              <a:ext cx="12037575" cy="8533664"/>
            </a:xfrm>
            <a:custGeom>
              <a:avLst/>
              <a:gdLst/>
              <a:ahLst/>
              <a:cxnLst/>
              <a:rect r="r" b="b" t="t" l="l"/>
              <a:pathLst>
                <a:path h="8533664" w="12037575">
                  <a:moveTo>
                    <a:pt x="0" y="0"/>
                  </a:moveTo>
                  <a:lnTo>
                    <a:pt x="12037575" y="0"/>
                  </a:lnTo>
                  <a:lnTo>
                    <a:pt x="12037575" y="8533664"/>
                  </a:lnTo>
                  <a:lnTo>
                    <a:pt x="0" y="8533664"/>
                  </a:lnTo>
                  <a:lnTo>
                    <a:pt x="0" y="0"/>
                  </a:lnTo>
                  <a:close/>
                </a:path>
              </a:pathLst>
            </a:custGeom>
            <a:blipFill>
              <a:blip r:embed="rId3"/>
              <a:stretch>
                <a:fillRect l="-11113" t="0" r="-11113" b="0"/>
              </a:stretch>
            </a:blipFill>
          </p:spPr>
        </p:sp>
      </p:grpSp>
      <p:sp>
        <p:nvSpPr>
          <p:cNvPr name="TextBox 6" id="6"/>
          <p:cNvSpPr txBox="true"/>
          <p:nvPr/>
        </p:nvSpPr>
        <p:spPr>
          <a:xfrm rot="0">
            <a:off x="1057275" y="2605411"/>
            <a:ext cx="157162" cy="428625"/>
          </a:xfrm>
          <a:prstGeom prst="rect">
            <a:avLst/>
          </a:prstGeom>
        </p:spPr>
        <p:txBody>
          <a:bodyPr anchor="t" rtlCol="false" tIns="0" lIns="0" bIns="0" rIns="0">
            <a:spAutoFit/>
          </a:bodyPr>
          <a:lstStyle/>
          <a:p>
            <a:pPr algn="l">
              <a:lnSpc>
                <a:spcPts val="2565"/>
              </a:lnSpc>
            </a:pPr>
            <a:r>
              <a:rPr lang="en-US" sz="2137">
                <a:solidFill>
                  <a:srgbClr val="5C544D"/>
                </a:solidFill>
                <a:latin typeface="Inter"/>
                <a:ea typeface="Inter"/>
                <a:cs typeface="Inter"/>
                <a:sym typeface="Inter"/>
              </a:rPr>
              <a:t>•</a:t>
            </a:r>
          </a:p>
        </p:txBody>
      </p:sp>
      <p:sp>
        <p:nvSpPr>
          <p:cNvPr name="TextBox 7" id="7"/>
          <p:cNvSpPr txBox="true"/>
          <p:nvPr/>
        </p:nvSpPr>
        <p:spPr>
          <a:xfrm rot="0">
            <a:off x="1319212" y="2516829"/>
            <a:ext cx="7467600" cy="1388345"/>
          </a:xfrm>
          <a:prstGeom prst="rect">
            <a:avLst/>
          </a:prstGeom>
        </p:spPr>
        <p:txBody>
          <a:bodyPr anchor="t" rtlCol="false" tIns="0" lIns="0" bIns="0" rIns="0">
            <a:spAutoFit/>
          </a:bodyPr>
          <a:lstStyle/>
          <a:p>
            <a:pPr algn="l">
              <a:lnSpc>
                <a:spcPts val="3418"/>
              </a:lnSpc>
            </a:pPr>
            <a:r>
              <a:rPr lang="en-US" sz="2137" b="true">
                <a:solidFill>
                  <a:srgbClr val="5C544D"/>
                </a:solidFill>
                <a:latin typeface="Inter Bold"/>
                <a:ea typeface="Inter Bold"/>
                <a:cs typeface="Inter Bold"/>
                <a:sym typeface="Inter Bold"/>
              </a:rPr>
              <a:t>Proportional Control:</a:t>
            </a:r>
            <a:r>
              <a:rPr lang="en-US" sz="2137">
                <a:solidFill>
                  <a:srgbClr val="5C544D"/>
                </a:solidFill>
                <a:latin typeface="Inter"/>
                <a:ea typeface="Inter"/>
                <a:cs typeface="Inter"/>
                <a:sym typeface="Inter"/>
              </a:rPr>
              <a:t> Dynamically calculates geometric step sizes based on real-time stress feedback, preventing the simulation from overshooting the limit.</a:t>
            </a:r>
          </a:p>
        </p:txBody>
      </p:sp>
      <p:sp>
        <p:nvSpPr>
          <p:cNvPr name="TextBox 8" id="8"/>
          <p:cNvSpPr txBox="true"/>
          <p:nvPr/>
        </p:nvSpPr>
        <p:spPr>
          <a:xfrm rot="0">
            <a:off x="1057275" y="4193781"/>
            <a:ext cx="157162" cy="428625"/>
          </a:xfrm>
          <a:prstGeom prst="rect">
            <a:avLst/>
          </a:prstGeom>
        </p:spPr>
        <p:txBody>
          <a:bodyPr anchor="t" rtlCol="false" tIns="0" lIns="0" bIns="0" rIns="0">
            <a:spAutoFit/>
          </a:bodyPr>
          <a:lstStyle/>
          <a:p>
            <a:pPr algn="l">
              <a:lnSpc>
                <a:spcPts val="2565"/>
              </a:lnSpc>
            </a:pPr>
            <a:r>
              <a:rPr lang="en-US" sz="2137">
                <a:solidFill>
                  <a:srgbClr val="5C544D"/>
                </a:solidFill>
                <a:latin typeface="Inter"/>
                <a:ea typeface="Inter"/>
                <a:cs typeface="Inter"/>
                <a:sym typeface="Inter"/>
              </a:rPr>
              <a:t>•</a:t>
            </a:r>
          </a:p>
        </p:txBody>
      </p:sp>
      <p:sp>
        <p:nvSpPr>
          <p:cNvPr name="TextBox 9" id="9"/>
          <p:cNvSpPr txBox="true"/>
          <p:nvPr/>
        </p:nvSpPr>
        <p:spPr>
          <a:xfrm rot="0">
            <a:off x="1319212" y="4105199"/>
            <a:ext cx="7467600" cy="1388345"/>
          </a:xfrm>
          <a:prstGeom prst="rect">
            <a:avLst/>
          </a:prstGeom>
        </p:spPr>
        <p:txBody>
          <a:bodyPr anchor="t" rtlCol="false" tIns="0" lIns="0" bIns="0" rIns="0">
            <a:spAutoFit/>
          </a:bodyPr>
          <a:lstStyle/>
          <a:p>
            <a:pPr algn="l">
              <a:lnSpc>
                <a:spcPts val="3418"/>
              </a:lnSpc>
            </a:pPr>
            <a:r>
              <a:rPr lang="en-US" sz="2137" b="true">
                <a:solidFill>
                  <a:srgbClr val="5C544D"/>
                </a:solidFill>
                <a:latin typeface="Inter Bold"/>
                <a:ea typeface="Inter Bold"/>
                <a:cs typeface="Inter Bold"/>
                <a:sym typeface="Inter Bold"/>
              </a:rPr>
              <a:t>Seamless Data Transfer:</a:t>
            </a:r>
            <a:r>
              <a:rPr lang="en-US" sz="2137">
                <a:solidFill>
                  <a:srgbClr val="5C544D"/>
                </a:solidFill>
                <a:latin typeface="Inter"/>
                <a:ea typeface="Inter"/>
                <a:cs typeface="Inter"/>
                <a:sym typeface="Inter"/>
              </a:rPr>
              <a:t> Utilizes programmatic file bridging (.txt and .step formats) to pass data between closed systems.</a:t>
            </a:r>
          </a:p>
        </p:txBody>
      </p:sp>
      <p:sp>
        <p:nvSpPr>
          <p:cNvPr name="TextBox 10" id="10"/>
          <p:cNvSpPr txBox="true"/>
          <p:nvPr/>
        </p:nvSpPr>
        <p:spPr>
          <a:xfrm rot="0">
            <a:off x="1057275" y="5782151"/>
            <a:ext cx="157162" cy="428625"/>
          </a:xfrm>
          <a:prstGeom prst="rect">
            <a:avLst/>
          </a:prstGeom>
        </p:spPr>
        <p:txBody>
          <a:bodyPr anchor="t" rtlCol="false" tIns="0" lIns="0" bIns="0" rIns="0">
            <a:spAutoFit/>
          </a:bodyPr>
          <a:lstStyle/>
          <a:p>
            <a:pPr algn="l">
              <a:lnSpc>
                <a:spcPts val="2565"/>
              </a:lnSpc>
            </a:pPr>
            <a:r>
              <a:rPr lang="en-US" sz="2137">
                <a:solidFill>
                  <a:srgbClr val="5C544D"/>
                </a:solidFill>
                <a:latin typeface="Inter"/>
                <a:ea typeface="Inter"/>
                <a:cs typeface="Inter"/>
                <a:sym typeface="Inter"/>
              </a:rPr>
              <a:t>•</a:t>
            </a:r>
          </a:p>
        </p:txBody>
      </p:sp>
      <p:sp>
        <p:nvSpPr>
          <p:cNvPr name="TextBox 11" id="11"/>
          <p:cNvSpPr txBox="true"/>
          <p:nvPr/>
        </p:nvSpPr>
        <p:spPr>
          <a:xfrm rot="0">
            <a:off x="1319212" y="5693569"/>
            <a:ext cx="7467600" cy="1388345"/>
          </a:xfrm>
          <a:prstGeom prst="rect">
            <a:avLst/>
          </a:prstGeom>
        </p:spPr>
        <p:txBody>
          <a:bodyPr anchor="t" rtlCol="false" tIns="0" lIns="0" bIns="0" rIns="0">
            <a:spAutoFit/>
          </a:bodyPr>
          <a:lstStyle/>
          <a:p>
            <a:pPr algn="l">
              <a:lnSpc>
                <a:spcPts val="3418"/>
              </a:lnSpc>
            </a:pPr>
            <a:r>
              <a:rPr lang="en-US" sz="2137" b="true">
                <a:solidFill>
                  <a:srgbClr val="5C544D"/>
                </a:solidFill>
                <a:latin typeface="Inter Bold"/>
                <a:ea typeface="Inter Bold"/>
                <a:cs typeface="Inter Bold"/>
                <a:sym typeface="Inter Bold"/>
              </a:rPr>
              <a:t>GUI Automation:</a:t>
            </a:r>
            <a:r>
              <a:rPr lang="en-US" sz="2137">
                <a:solidFill>
                  <a:srgbClr val="5C544D"/>
                </a:solidFill>
                <a:latin typeface="Inter"/>
                <a:ea typeface="Inter"/>
                <a:cs typeface="Inter"/>
                <a:sym typeface="Inter"/>
              </a:rPr>
              <a:t> Implements PyAutoGUI to physically command the mouse and keyboard, removing the human entirely from the repetitive clicking cycle.</a:t>
            </a:r>
          </a:p>
        </p:txBody>
      </p:sp>
      <p:sp>
        <p:nvSpPr>
          <p:cNvPr name="TextBox 12" id="12"/>
          <p:cNvSpPr txBox="true"/>
          <p:nvPr/>
        </p:nvSpPr>
        <p:spPr>
          <a:xfrm rot="0">
            <a:off x="1057275" y="7370521"/>
            <a:ext cx="157162" cy="428625"/>
          </a:xfrm>
          <a:prstGeom prst="rect">
            <a:avLst/>
          </a:prstGeom>
        </p:spPr>
        <p:txBody>
          <a:bodyPr anchor="t" rtlCol="false" tIns="0" lIns="0" bIns="0" rIns="0">
            <a:spAutoFit/>
          </a:bodyPr>
          <a:lstStyle/>
          <a:p>
            <a:pPr algn="l">
              <a:lnSpc>
                <a:spcPts val="2565"/>
              </a:lnSpc>
            </a:pPr>
            <a:r>
              <a:rPr lang="en-US" sz="2137">
                <a:solidFill>
                  <a:srgbClr val="5C544D"/>
                </a:solidFill>
                <a:latin typeface="Inter"/>
                <a:ea typeface="Inter"/>
                <a:cs typeface="Inter"/>
                <a:sym typeface="Inter"/>
              </a:rPr>
              <a:t>•</a:t>
            </a:r>
          </a:p>
        </p:txBody>
      </p:sp>
      <p:sp>
        <p:nvSpPr>
          <p:cNvPr name="TextBox 13" id="13"/>
          <p:cNvSpPr txBox="true"/>
          <p:nvPr/>
        </p:nvSpPr>
        <p:spPr>
          <a:xfrm rot="0">
            <a:off x="1319212" y="7281939"/>
            <a:ext cx="7467600" cy="1388345"/>
          </a:xfrm>
          <a:prstGeom prst="rect">
            <a:avLst/>
          </a:prstGeom>
        </p:spPr>
        <p:txBody>
          <a:bodyPr anchor="t" rtlCol="false" tIns="0" lIns="0" bIns="0" rIns="0">
            <a:spAutoFit/>
          </a:bodyPr>
          <a:lstStyle/>
          <a:p>
            <a:pPr algn="l">
              <a:lnSpc>
                <a:spcPts val="3418"/>
              </a:lnSpc>
            </a:pPr>
            <a:r>
              <a:rPr lang="en-US" sz="2137" b="true">
                <a:solidFill>
                  <a:srgbClr val="5C544D"/>
                </a:solidFill>
                <a:latin typeface="Inter Bold"/>
                <a:ea typeface="Inter Bold"/>
                <a:cs typeface="Inter Bold"/>
                <a:sym typeface="Inter Bold"/>
              </a:rPr>
              <a:t>Autonomous Convergence:</a:t>
            </a:r>
            <a:r>
              <a:rPr lang="en-US" sz="2137">
                <a:solidFill>
                  <a:srgbClr val="5C544D"/>
                </a:solidFill>
                <a:latin typeface="Inter"/>
                <a:ea typeface="Inter"/>
                <a:cs typeface="Inter"/>
                <a:sym typeface="Inter"/>
              </a:rPr>
              <a:t> Ensures the design rapidly approaches the safety limit when far away, and takes microscopic steps near the target.</a:t>
            </a:r>
          </a:p>
        </p:txBody>
      </p:sp>
      <p:sp>
        <p:nvSpPr>
          <p:cNvPr name="TextBox 14" id="14"/>
          <p:cNvSpPr txBox="true"/>
          <p:nvPr/>
        </p:nvSpPr>
        <p:spPr>
          <a:xfrm rot="0">
            <a:off x="857250" y="847725"/>
            <a:ext cx="17402175" cy="709613"/>
          </a:xfrm>
          <a:prstGeom prst="rect">
            <a:avLst/>
          </a:prstGeom>
        </p:spPr>
        <p:txBody>
          <a:bodyPr anchor="t" rtlCol="false" tIns="0" lIns="0" bIns="0" rIns="0">
            <a:spAutoFit/>
          </a:bodyPr>
          <a:lstStyle/>
          <a:p>
            <a:pPr algn="l">
              <a:lnSpc>
                <a:spcPts val="5400"/>
              </a:lnSpc>
            </a:pPr>
            <a:r>
              <a:rPr lang="en-US" sz="4500">
                <a:solidFill>
                  <a:srgbClr val="2D2723"/>
                </a:solidFill>
                <a:latin typeface="Inter"/>
                <a:ea typeface="Inter"/>
                <a:cs typeface="Inter"/>
                <a:sym typeface="Inter"/>
              </a:rPr>
              <a:t>The Smart Optimizer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7F0"/>
        </a:solidFill>
      </p:bgPr>
    </p:bg>
    <p:spTree>
      <p:nvGrpSpPr>
        <p:cNvPr id="1" name=""/>
        <p:cNvGrpSpPr/>
        <p:nvPr/>
      </p:nvGrpSpPr>
      <p:grpSpPr>
        <a:xfrm>
          <a:off x="0" y="0"/>
          <a:ext cx="0" cy="0"/>
          <a:chOff x="0" y="0"/>
          <a:chExt cx="0" cy="0"/>
        </a:xfrm>
      </p:grpSpPr>
      <p:sp>
        <p:nvSpPr>
          <p:cNvPr name="Freeform 2" id="2"/>
          <p:cNvSpPr/>
          <p:nvPr/>
        </p:nvSpPr>
        <p:spPr>
          <a:xfrm flipH="false" flipV="false" rot="0">
            <a:off x="10086143" y="3714245"/>
            <a:ext cx="7877613" cy="4968592"/>
          </a:xfrm>
          <a:custGeom>
            <a:avLst/>
            <a:gdLst/>
            <a:ahLst/>
            <a:cxnLst/>
            <a:rect r="r" b="b" t="t" l="l"/>
            <a:pathLst>
              <a:path h="4968592" w="7877613">
                <a:moveTo>
                  <a:pt x="0" y="0"/>
                </a:moveTo>
                <a:lnTo>
                  <a:pt x="7877614" y="0"/>
                </a:lnTo>
                <a:lnTo>
                  <a:pt x="7877614" y="4968592"/>
                </a:lnTo>
                <a:lnTo>
                  <a:pt x="0" y="4968592"/>
                </a:lnTo>
                <a:lnTo>
                  <a:pt x="0" y="0"/>
                </a:lnTo>
                <a:close/>
              </a:path>
            </a:pathLst>
          </a:custGeom>
          <a:blipFill>
            <a:blip r:embed="rId2"/>
            <a:stretch>
              <a:fillRect l="0" t="-4422" r="0" b="0"/>
            </a:stretch>
          </a:blipFill>
        </p:spPr>
      </p:sp>
      <p:sp>
        <p:nvSpPr>
          <p:cNvPr name="TextBox 3" id="3"/>
          <p:cNvSpPr txBox="true"/>
          <p:nvPr/>
        </p:nvSpPr>
        <p:spPr>
          <a:xfrm rot="0">
            <a:off x="420832" y="1324347"/>
            <a:ext cx="11561220" cy="2124385"/>
          </a:xfrm>
          <a:prstGeom prst="rect">
            <a:avLst/>
          </a:prstGeom>
        </p:spPr>
        <p:txBody>
          <a:bodyPr anchor="t" rtlCol="false" tIns="0" lIns="0" bIns="0" rIns="0">
            <a:spAutoFit/>
          </a:bodyPr>
          <a:lstStyle/>
          <a:p>
            <a:pPr algn="ctr">
              <a:lnSpc>
                <a:spcPts val="8537"/>
              </a:lnSpc>
              <a:spcBef>
                <a:spcPct val="0"/>
              </a:spcBef>
            </a:pPr>
            <a:r>
              <a:rPr lang="en-US" b="true" sz="6098">
                <a:solidFill>
                  <a:srgbClr val="8C7753"/>
                </a:solidFill>
                <a:latin typeface="Open Sauce Bold"/>
                <a:ea typeface="Open Sauce Bold"/>
                <a:cs typeface="Open Sauce Bold"/>
                <a:sym typeface="Open Sauce Bold"/>
              </a:rPr>
              <a:t>Final</a:t>
            </a:r>
            <a:r>
              <a:rPr lang="en-US" b="true" sz="6098">
                <a:solidFill>
                  <a:srgbClr val="8C7753"/>
                </a:solidFill>
                <a:latin typeface="Open Sauce Bold"/>
                <a:ea typeface="Open Sauce Bold"/>
                <a:cs typeface="Open Sauce Bold"/>
                <a:sym typeface="Open Sauce Bold"/>
              </a:rPr>
              <a:t> Optimization Results</a:t>
            </a:r>
          </a:p>
          <a:p>
            <a:pPr algn="ctr">
              <a:lnSpc>
                <a:spcPts val="8537"/>
              </a:lnSpc>
              <a:spcBef>
                <a:spcPct val="0"/>
              </a:spcBef>
            </a:pPr>
          </a:p>
        </p:txBody>
      </p:sp>
      <p:sp>
        <p:nvSpPr>
          <p:cNvPr name="TextBox 4" id="4"/>
          <p:cNvSpPr txBox="true"/>
          <p:nvPr/>
        </p:nvSpPr>
        <p:spPr>
          <a:xfrm rot="0">
            <a:off x="669152" y="3895869"/>
            <a:ext cx="9197268" cy="5006256"/>
          </a:xfrm>
          <a:prstGeom prst="rect">
            <a:avLst/>
          </a:prstGeom>
        </p:spPr>
        <p:txBody>
          <a:bodyPr anchor="t" rtlCol="false" tIns="0" lIns="0" bIns="0" rIns="0">
            <a:spAutoFit/>
          </a:bodyPr>
          <a:lstStyle/>
          <a:p>
            <a:pPr algn="l" marL="518876" indent="-259438" lvl="1">
              <a:lnSpc>
                <a:spcPts val="3364"/>
              </a:lnSpc>
              <a:buFont typeface="Arial"/>
              <a:buChar char="•"/>
            </a:pPr>
            <a:r>
              <a:rPr lang="en-US" b="true" sz="2403">
                <a:solidFill>
                  <a:srgbClr val="331B0D"/>
                </a:solidFill>
                <a:latin typeface="Open Sauce Bold"/>
                <a:ea typeface="Open Sauce Bold"/>
                <a:cs typeface="Open Sauce Bold"/>
                <a:sym typeface="Open Sauce Bold"/>
              </a:rPr>
              <a:t>Mass Reducti</a:t>
            </a:r>
            <a:r>
              <a:rPr lang="en-US" b="true" sz="2403">
                <a:solidFill>
                  <a:srgbClr val="331B0D"/>
                </a:solidFill>
                <a:latin typeface="Open Sauce Bold"/>
                <a:ea typeface="Open Sauce Bold"/>
                <a:cs typeface="Open Sauce Bold"/>
                <a:sym typeface="Open Sauce Bold"/>
              </a:rPr>
              <a:t>on: Successfully shaved 160 grams of dead weight per rib (an 11% reduction from the baseline 1.40 kg model).</a:t>
            </a:r>
          </a:p>
          <a:p>
            <a:pPr algn="l" marL="518876" indent="-259438" lvl="1">
              <a:lnSpc>
                <a:spcPts val="3364"/>
              </a:lnSpc>
              <a:buFont typeface="Arial"/>
              <a:buChar char="•"/>
            </a:pPr>
            <a:r>
              <a:rPr lang="en-US" b="true" sz="2403">
                <a:solidFill>
                  <a:srgbClr val="331B0D"/>
                </a:solidFill>
                <a:latin typeface="Open Sauce Bold"/>
                <a:ea typeface="Open Sauce Bold"/>
                <a:cs typeface="Open Sauce Bold"/>
                <a:sym typeface="Open Sauce Bold"/>
              </a:rPr>
              <a:t>Structural Integrity: Perfectly converged just under the strict 50.0 MPa maximum equivalent stress limit without ever overshooting.</a:t>
            </a:r>
          </a:p>
          <a:p>
            <a:pPr algn="l" marL="518876" indent="-259438" lvl="1">
              <a:lnSpc>
                <a:spcPts val="3364"/>
              </a:lnSpc>
              <a:buFont typeface="Arial"/>
              <a:buChar char="•"/>
            </a:pPr>
            <a:r>
              <a:rPr lang="en-US" b="true" sz="2403">
                <a:solidFill>
                  <a:srgbClr val="331B0D"/>
                </a:solidFill>
                <a:latin typeface="Open Sauce Bold"/>
                <a:ea typeface="Open Sauce Bold"/>
                <a:cs typeface="Open Sauce Bold"/>
                <a:sym typeface="Open Sauce Bold"/>
              </a:rPr>
              <a:t>Autonomous Execution: Executed 35 complete CAD-to-FEA design iterations entirely hands-free.</a:t>
            </a:r>
          </a:p>
          <a:p>
            <a:pPr algn="l" marL="518876" indent="-259438" lvl="1">
              <a:lnSpc>
                <a:spcPts val="3364"/>
              </a:lnSpc>
              <a:buFont typeface="Arial"/>
              <a:buChar char="•"/>
            </a:pPr>
            <a:r>
              <a:rPr lang="en-US" b="true" sz="2403">
                <a:solidFill>
                  <a:srgbClr val="331B0D"/>
                </a:solidFill>
                <a:latin typeface="Open Sauce Bold"/>
                <a:ea typeface="Open Sauce Bold"/>
                <a:cs typeface="Open Sauce Bold"/>
                <a:sym typeface="Open Sauce Bold"/>
              </a:rPr>
              <a:t>Time Savings: Completely eliminated the 15-minute manual bottleneck, reducing engineering cycle time to a fraction of the cost.</a:t>
            </a:r>
          </a:p>
          <a:p>
            <a:pPr algn="l">
              <a:lnSpc>
                <a:spcPts val="3364"/>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DFBF7"/>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857250" y="2719311"/>
            <a:ext cx="5143500" cy="6119965"/>
            <a:chOff x="0" y="0"/>
            <a:chExt cx="6858000" cy="8159953"/>
          </a:xfrm>
        </p:grpSpPr>
        <p:sp>
          <p:nvSpPr>
            <p:cNvPr name="Freeform 5" id="5" descr="image.png"/>
            <p:cNvSpPr/>
            <p:nvPr/>
          </p:nvSpPr>
          <p:spPr>
            <a:xfrm flipH="false" flipV="false" rot="0">
              <a:off x="0" y="0"/>
              <a:ext cx="6858000" cy="8160004"/>
            </a:xfrm>
            <a:custGeom>
              <a:avLst/>
              <a:gdLst/>
              <a:ahLst/>
              <a:cxnLst/>
              <a:rect r="r" b="b" t="t" l="l"/>
              <a:pathLst>
                <a:path h="8160004" w="6858000">
                  <a:moveTo>
                    <a:pt x="0" y="0"/>
                  </a:moveTo>
                  <a:lnTo>
                    <a:pt x="6858000" y="0"/>
                  </a:lnTo>
                  <a:lnTo>
                    <a:pt x="6858000" y="8160004"/>
                  </a:lnTo>
                  <a:lnTo>
                    <a:pt x="0" y="8160004"/>
                  </a:lnTo>
                  <a:lnTo>
                    <a:pt x="0" y="0"/>
                  </a:lnTo>
                  <a:close/>
                </a:path>
              </a:pathLst>
            </a:custGeom>
            <a:blipFill>
              <a:blip r:embed="rId3"/>
              <a:stretch>
                <a:fillRect l="0" t="-76" r="0" b="-75"/>
              </a:stretch>
            </a:blipFill>
          </p:spPr>
        </p:sp>
      </p:grpSp>
      <p:grpSp>
        <p:nvGrpSpPr>
          <p:cNvPr name="Group 6" id="6"/>
          <p:cNvGrpSpPr/>
          <p:nvPr/>
        </p:nvGrpSpPr>
        <p:grpSpPr>
          <a:xfrm rot="0">
            <a:off x="6572250" y="2719311"/>
            <a:ext cx="5143500" cy="6119965"/>
            <a:chOff x="0" y="0"/>
            <a:chExt cx="6858000" cy="8159953"/>
          </a:xfrm>
        </p:grpSpPr>
        <p:sp>
          <p:nvSpPr>
            <p:cNvPr name="Freeform 7" id="7" descr="image.png"/>
            <p:cNvSpPr/>
            <p:nvPr/>
          </p:nvSpPr>
          <p:spPr>
            <a:xfrm flipH="false" flipV="false" rot="0">
              <a:off x="0" y="0"/>
              <a:ext cx="6858000" cy="8160004"/>
            </a:xfrm>
            <a:custGeom>
              <a:avLst/>
              <a:gdLst/>
              <a:ahLst/>
              <a:cxnLst/>
              <a:rect r="r" b="b" t="t" l="l"/>
              <a:pathLst>
                <a:path h="8160004" w="6858000">
                  <a:moveTo>
                    <a:pt x="0" y="0"/>
                  </a:moveTo>
                  <a:lnTo>
                    <a:pt x="6858000" y="0"/>
                  </a:lnTo>
                  <a:lnTo>
                    <a:pt x="6858000" y="8160004"/>
                  </a:lnTo>
                  <a:lnTo>
                    <a:pt x="0" y="8160004"/>
                  </a:lnTo>
                  <a:lnTo>
                    <a:pt x="0" y="0"/>
                  </a:lnTo>
                  <a:close/>
                </a:path>
              </a:pathLst>
            </a:custGeom>
            <a:blipFill>
              <a:blip r:embed="rId4"/>
              <a:stretch>
                <a:fillRect l="0" t="-76" r="0" b="-75"/>
              </a:stretch>
            </a:blipFill>
          </p:spPr>
        </p:sp>
      </p:grpSp>
      <p:grpSp>
        <p:nvGrpSpPr>
          <p:cNvPr name="Group 8" id="8"/>
          <p:cNvGrpSpPr/>
          <p:nvPr/>
        </p:nvGrpSpPr>
        <p:grpSpPr>
          <a:xfrm rot="0">
            <a:off x="12287250" y="2719311"/>
            <a:ext cx="5143500" cy="6119965"/>
            <a:chOff x="0" y="0"/>
            <a:chExt cx="6858000" cy="8159953"/>
          </a:xfrm>
        </p:grpSpPr>
        <p:sp>
          <p:nvSpPr>
            <p:cNvPr name="Freeform 9" id="9" descr="image.png"/>
            <p:cNvSpPr/>
            <p:nvPr/>
          </p:nvSpPr>
          <p:spPr>
            <a:xfrm flipH="false" flipV="false" rot="0">
              <a:off x="0" y="0"/>
              <a:ext cx="6858000" cy="8160004"/>
            </a:xfrm>
            <a:custGeom>
              <a:avLst/>
              <a:gdLst/>
              <a:ahLst/>
              <a:cxnLst/>
              <a:rect r="r" b="b" t="t" l="l"/>
              <a:pathLst>
                <a:path h="8160004" w="6858000">
                  <a:moveTo>
                    <a:pt x="0" y="0"/>
                  </a:moveTo>
                  <a:lnTo>
                    <a:pt x="6858000" y="0"/>
                  </a:lnTo>
                  <a:lnTo>
                    <a:pt x="6858000" y="8160004"/>
                  </a:lnTo>
                  <a:lnTo>
                    <a:pt x="0" y="8160004"/>
                  </a:lnTo>
                  <a:lnTo>
                    <a:pt x="0" y="0"/>
                  </a:lnTo>
                  <a:close/>
                </a:path>
              </a:pathLst>
            </a:custGeom>
            <a:blipFill>
              <a:blip r:embed="rId5"/>
              <a:stretch>
                <a:fillRect l="0" t="-76" r="0" b="-75"/>
              </a:stretch>
            </a:blipFill>
          </p:spPr>
        </p:sp>
      </p:grpSp>
      <p:sp>
        <p:nvSpPr>
          <p:cNvPr name="TextBox 10" id="10"/>
          <p:cNvSpPr txBox="true"/>
          <p:nvPr/>
        </p:nvSpPr>
        <p:spPr>
          <a:xfrm rot="0">
            <a:off x="1371600" y="4319511"/>
            <a:ext cx="4245531" cy="485775"/>
          </a:xfrm>
          <a:prstGeom prst="rect">
            <a:avLst/>
          </a:prstGeom>
        </p:spPr>
        <p:txBody>
          <a:bodyPr anchor="t" rtlCol="false" tIns="0" lIns="0" bIns="0" rIns="0">
            <a:spAutoFit/>
          </a:bodyPr>
          <a:lstStyle/>
          <a:p>
            <a:pPr algn="l">
              <a:lnSpc>
                <a:spcPts val="3779"/>
              </a:lnSpc>
            </a:pPr>
            <a:r>
              <a:rPr lang="en-US" sz="3150">
                <a:solidFill>
                  <a:srgbClr val="4A3E34"/>
                </a:solidFill>
                <a:latin typeface="Inter"/>
                <a:ea typeface="Inter"/>
                <a:cs typeface="Inter"/>
                <a:sym typeface="Inter"/>
              </a:rPr>
              <a:t>Multi-Variable Control</a:t>
            </a:r>
          </a:p>
        </p:txBody>
      </p:sp>
      <p:sp>
        <p:nvSpPr>
          <p:cNvPr name="TextBox 11" id="11"/>
          <p:cNvSpPr txBox="true"/>
          <p:nvPr/>
        </p:nvSpPr>
        <p:spPr>
          <a:xfrm rot="0">
            <a:off x="1371600" y="4933874"/>
            <a:ext cx="4114800" cy="2690965"/>
          </a:xfrm>
          <a:prstGeom prst="rect">
            <a:avLst/>
          </a:prstGeom>
        </p:spPr>
        <p:txBody>
          <a:bodyPr anchor="t" rtlCol="false" tIns="0" lIns="0" bIns="0" rIns="0">
            <a:spAutoFit/>
          </a:bodyPr>
          <a:lstStyle/>
          <a:p>
            <a:pPr algn="l">
              <a:lnSpc>
                <a:spcPts val="3418"/>
              </a:lnSpc>
            </a:pPr>
            <a:r>
              <a:rPr lang="en-US" sz="2137">
                <a:solidFill>
                  <a:srgbClr val="4A3E34"/>
                </a:solidFill>
                <a:latin typeface="Inter"/>
                <a:ea typeface="Inter"/>
                <a:cs typeface="Inter"/>
                <a:sym typeface="Inter"/>
              </a:rPr>
              <a:t>Integrate optimization libraries like Scipy to allow Python to control the diameter of each individual hole independently for absolute maximum mass reduction.</a:t>
            </a:r>
          </a:p>
        </p:txBody>
      </p:sp>
      <p:sp>
        <p:nvSpPr>
          <p:cNvPr name="TextBox 12" id="12"/>
          <p:cNvSpPr txBox="true"/>
          <p:nvPr/>
        </p:nvSpPr>
        <p:spPr>
          <a:xfrm rot="0">
            <a:off x="7086600" y="4319511"/>
            <a:ext cx="4320540" cy="971550"/>
          </a:xfrm>
          <a:prstGeom prst="rect">
            <a:avLst/>
          </a:prstGeom>
        </p:spPr>
        <p:txBody>
          <a:bodyPr anchor="t" rtlCol="false" tIns="0" lIns="0" bIns="0" rIns="0">
            <a:spAutoFit/>
          </a:bodyPr>
          <a:lstStyle/>
          <a:p>
            <a:pPr algn="l">
              <a:lnSpc>
                <a:spcPts val="3779"/>
              </a:lnSpc>
            </a:pPr>
            <a:r>
              <a:rPr lang="en-US" sz="3150">
                <a:solidFill>
                  <a:srgbClr val="4A3E34"/>
                </a:solidFill>
                <a:latin typeface="Inter"/>
                <a:ea typeface="Inter"/>
                <a:cs typeface="Inter"/>
                <a:sym typeface="Inter"/>
              </a:rPr>
              <a:t>Advanced Constraints</a:t>
            </a:r>
          </a:p>
        </p:txBody>
      </p:sp>
      <p:sp>
        <p:nvSpPr>
          <p:cNvPr name="TextBox 13" id="13"/>
          <p:cNvSpPr txBox="true"/>
          <p:nvPr/>
        </p:nvSpPr>
        <p:spPr>
          <a:xfrm rot="0">
            <a:off x="7086600" y="5419649"/>
            <a:ext cx="4114800" cy="2256758"/>
          </a:xfrm>
          <a:prstGeom prst="rect">
            <a:avLst/>
          </a:prstGeom>
        </p:spPr>
        <p:txBody>
          <a:bodyPr anchor="t" rtlCol="false" tIns="0" lIns="0" bIns="0" rIns="0">
            <a:spAutoFit/>
          </a:bodyPr>
          <a:lstStyle/>
          <a:p>
            <a:pPr algn="l">
              <a:lnSpc>
                <a:spcPts val="3418"/>
              </a:lnSpc>
            </a:pPr>
            <a:r>
              <a:rPr lang="en-US" sz="2137">
                <a:solidFill>
                  <a:srgbClr val="4A3E34"/>
                </a:solidFill>
                <a:latin typeface="Inter"/>
                <a:ea typeface="Inter"/>
                <a:cs typeface="Inter"/>
                <a:sym typeface="Inter"/>
              </a:rPr>
              <a:t>Expand the ANSYS automation script to evaluate secondary failure modes, such as maximum structural deflection and Eigenvalue Buckling.</a:t>
            </a:r>
          </a:p>
        </p:txBody>
      </p:sp>
      <p:sp>
        <p:nvSpPr>
          <p:cNvPr name="TextBox 14" id="14"/>
          <p:cNvSpPr txBox="true"/>
          <p:nvPr/>
        </p:nvSpPr>
        <p:spPr>
          <a:xfrm rot="0">
            <a:off x="12801600" y="4319511"/>
            <a:ext cx="4320540" cy="971550"/>
          </a:xfrm>
          <a:prstGeom prst="rect">
            <a:avLst/>
          </a:prstGeom>
        </p:spPr>
        <p:txBody>
          <a:bodyPr anchor="t" rtlCol="false" tIns="0" lIns="0" bIns="0" rIns="0">
            <a:spAutoFit/>
          </a:bodyPr>
          <a:lstStyle/>
          <a:p>
            <a:pPr algn="l">
              <a:lnSpc>
                <a:spcPts val="3779"/>
              </a:lnSpc>
            </a:pPr>
            <a:r>
              <a:rPr lang="en-US" sz="3150">
                <a:solidFill>
                  <a:srgbClr val="4A3E34"/>
                </a:solidFill>
                <a:latin typeface="Inter"/>
                <a:ea typeface="Inter"/>
                <a:cs typeface="Inter"/>
                <a:sym typeface="Inter"/>
              </a:rPr>
              <a:t>Assembly-Level Scaling</a:t>
            </a:r>
          </a:p>
        </p:txBody>
      </p:sp>
      <p:sp>
        <p:nvSpPr>
          <p:cNvPr name="TextBox 15" id="15"/>
          <p:cNvSpPr txBox="true"/>
          <p:nvPr/>
        </p:nvSpPr>
        <p:spPr>
          <a:xfrm rot="0">
            <a:off x="12801600" y="5419649"/>
            <a:ext cx="4114800" cy="2690965"/>
          </a:xfrm>
          <a:prstGeom prst="rect">
            <a:avLst/>
          </a:prstGeom>
        </p:spPr>
        <p:txBody>
          <a:bodyPr anchor="t" rtlCol="false" tIns="0" lIns="0" bIns="0" rIns="0">
            <a:spAutoFit/>
          </a:bodyPr>
          <a:lstStyle/>
          <a:p>
            <a:pPr algn="l">
              <a:lnSpc>
                <a:spcPts val="3418"/>
              </a:lnSpc>
            </a:pPr>
            <a:r>
              <a:rPr lang="en-US" sz="2137">
                <a:solidFill>
                  <a:srgbClr val="4A3E34"/>
                </a:solidFill>
                <a:latin typeface="Inter"/>
                <a:ea typeface="Inter"/>
                <a:cs typeface="Inter"/>
                <a:sym typeface="Inter"/>
              </a:rPr>
              <a:t>Transition the pipeline from optimizing a single 2D rib to optimizing a full 3D wing box assembly, dynamically adjusting spacing and skin panels.</a:t>
            </a:r>
          </a:p>
        </p:txBody>
      </p:sp>
      <p:grpSp>
        <p:nvGrpSpPr>
          <p:cNvPr name="Group 16" id="16"/>
          <p:cNvGrpSpPr/>
          <p:nvPr/>
        </p:nvGrpSpPr>
        <p:grpSpPr>
          <a:xfrm rot="0">
            <a:off x="1371600" y="3290811"/>
            <a:ext cx="600075" cy="600075"/>
            <a:chOff x="0" y="0"/>
            <a:chExt cx="800100" cy="800100"/>
          </a:xfrm>
        </p:grpSpPr>
        <p:sp>
          <p:nvSpPr>
            <p:cNvPr name="Freeform 17" id="17" descr="image.png"/>
            <p:cNvSpPr/>
            <p:nvPr/>
          </p:nvSpPr>
          <p:spPr>
            <a:xfrm flipH="false" flipV="false" rot="0">
              <a:off x="0" y="0"/>
              <a:ext cx="800100" cy="800100"/>
            </a:xfrm>
            <a:custGeom>
              <a:avLst/>
              <a:gdLst/>
              <a:ahLst/>
              <a:cxnLst/>
              <a:rect r="r" b="b" t="t" l="l"/>
              <a:pathLst>
                <a:path h="800100" w="800100">
                  <a:moveTo>
                    <a:pt x="0" y="0"/>
                  </a:moveTo>
                  <a:lnTo>
                    <a:pt x="800100" y="0"/>
                  </a:lnTo>
                  <a:lnTo>
                    <a:pt x="800100" y="800100"/>
                  </a:lnTo>
                  <a:lnTo>
                    <a:pt x="0" y="800100"/>
                  </a:lnTo>
                  <a:lnTo>
                    <a:pt x="0" y="0"/>
                  </a:lnTo>
                  <a:close/>
                </a:path>
              </a:pathLst>
            </a:custGeom>
            <a:blipFill>
              <a:blip r:embed="rId6"/>
              <a:stretch>
                <a:fillRect l="0" t="-1190" r="0" b="-1190"/>
              </a:stretch>
            </a:blipFill>
          </p:spPr>
        </p:sp>
      </p:grpSp>
      <p:grpSp>
        <p:nvGrpSpPr>
          <p:cNvPr name="Group 18" id="18"/>
          <p:cNvGrpSpPr/>
          <p:nvPr/>
        </p:nvGrpSpPr>
        <p:grpSpPr>
          <a:xfrm rot="0">
            <a:off x="7086600" y="3290811"/>
            <a:ext cx="600075" cy="600075"/>
            <a:chOff x="0" y="0"/>
            <a:chExt cx="800100" cy="800100"/>
          </a:xfrm>
        </p:grpSpPr>
        <p:sp>
          <p:nvSpPr>
            <p:cNvPr name="Freeform 19" id="19" descr="image.png"/>
            <p:cNvSpPr/>
            <p:nvPr/>
          </p:nvSpPr>
          <p:spPr>
            <a:xfrm flipH="false" flipV="false" rot="0">
              <a:off x="0" y="0"/>
              <a:ext cx="800100" cy="800100"/>
            </a:xfrm>
            <a:custGeom>
              <a:avLst/>
              <a:gdLst/>
              <a:ahLst/>
              <a:cxnLst/>
              <a:rect r="r" b="b" t="t" l="l"/>
              <a:pathLst>
                <a:path h="800100" w="800100">
                  <a:moveTo>
                    <a:pt x="0" y="0"/>
                  </a:moveTo>
                  <a:lnTo>
                    <a:pt x="800100" y="0"/>
                  </a:lnTo>
                  <a:lnTo>
                    <a:pt x="800100" y="800100"/>
                  </a:lnTo>
                  <a:lnTo>
                    <a:pt x="0" y="800100"/>
                  </a:lnTo>
                  <a:lnTo>
                    <a:pt x="0" y="0"/>
                  </a:lnTo>
                  <a:close/>
                </a:path>
              </a:pathLst>
            </a:custGeom>
            <a:blipFill>
              <a:blip r:embed="rId7"/>
              <a:stretch>
                <a:fillRect l="0" t="0" r="0" b="0"/>
              </a:stretch>
            </a:blipFill>
          </p:spPr>
        </p:sp>
      </p:grpSp>
      <p:grpSp>
        <p:nvGrpSpPr>
          <p:cNvPr name="Group 20" id="20"/>
          <p:cNvGrpSpPr/>
          <p:nvPr/>
        </p:nvGrpSpPr>
        <p:grpSpPr>
          <a:xfrm rot="0">
            <a:off x="12801600" y="3290811"/>
            <a:ext cx="671512" cy="600075"/>
            <a:chOff x="0" y="0"/>
            <a:chExt cx="895350" cy="800100"/>
          </a:xfrm>
        </p:grpSpPr>
        <p:sp>
          <p:nvSpPr>
            <p:cNvPr name="Freeform 21" id="21" descr="image.png"/>
            <p:cNvSpPr/>
            <p:nvPr/>
          </p:nvSpPr>
          <p:spPr>
            <a:xfrm flipH="false" flipV="false" rot="0">
              <a:off x="0" y="0"/>
              <a:ext cx="895350" cy="800100"/>
            </a:xfrm>
            <a:custGeom>
              <a:avLst/>
              <a:gdLst/>
              <a:ahLst/>
              <a:cxnLst/>
              <a:rect r="r" b="b" t="t" l="l"/>
              <a:pathLst>
                <a:path h="800100" w="895350">
                  <a:moveTo>
                    <a:pt x="0" y="0"/>
                  </a:moveTo>
                  <a:lnTo>
                    <a:pt x="895350" y="0"/>
                  </a:lnTo>
                  <a:lnTo>
                    <a:pt x="895350" y="800100"/>
                  </a:lnTo>
                  <a:lnTo>
                    <a:pt x="0" y="800100"/>
                  </a:lnTo>
                  <a:lnTo>
                    <a:pt x="0" y="0"/>
                  </a:lnTo>
                  <a:close/>
                </a:path>
              </a:pathLst>
            </a:custGeom>
            <a:blipFill>
              <a:blip r:embed="rId8"/>
              <a:stretch>
                <a:fillRect l="0" t="-123" r="0" b="-123"/>
              </a:stretch>
            </a:blipFill>
          </p:spPr>
        </p:sp>
      </p:grpSp>
      <p:sp>
        <p:nvSpPr>
          <p:cNvPr name="TextBox 22" id="22"/>
          <p:cNvSpPr txBox="true"/>
          <p:nvPr/>
        </p:nvSpPr>
        <p:spPr>
          <a:xfrm rot="0">
            <a:off x="857250" y="857250"/>
            <a:ext cx="7771924" cy="685800"/>
          </a:xfrm>
          <a:prstGeom prst="rect">
            <a:avLst/>
          </a:prstGeom>
        </p:spPr>
        <p:txBody>
          <a:bodyPr anchor="t" rtlCol="false" tIns="0" lIns="0" bIns="0" rIns="0">
            <a:spAutoFit/>
          </a:bodyPr>
          <a:lstStyle/>
          <a:p>
            <a:pPr algn="l">
              <a:lnSpc>
                <a:spcPts val="5400"/>
              </a:lnSpc>
            </a:pPr>
            <a:r>
              <a:rPr lang="en-US" b="true" sz="4500">
                <a:solidFill>
                  <a:srgbClr val="8C7753"/>
                </a:solidFill>
                <a:latin typeface="Open Sauce Bold"/>
                <a:ea typeface="Open Sauce Bold"/>
                <a:cs typeface="Open Sauce Bold"/>
                <a:sym typeface="Open Sauce Bold"/>
              </a:rPr>
              <a:t>Next Steps &amp; Future Scope</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AF7F0"/>
        </a:solidFill>
      </p:bgPr>
    </p:bg>
    <p:spTree>
      <p:nvGrpSpPr>
        <p:cNvPr id="1" name=""/>
        <p:cNvGrpSpPr/>
        <p:nvPr/>
      </p:nvGrpSpPr>
      <p:grpSpPr>
        <a:xfrm>
          <a:off x="0" y="0"/>
          <a:ext cx="0" cy="0"/>
          <a:chOff x="0" y="0"/>
          <a:chExt cx="0" cy="0"/>
        </a:xfrm>
      </p:grpSpPr>
      <p:sp>
        <p:nvSpPr>
          <p:cNvPr name="TextBox 2" id="2"/>
          <p:cNvSpPr txBox="true"/>
          <p:nvPr/>
        </p:nvSpPr>
        <p:spPr>
          <a:xfrm rot="0">
            <a:off x="933450" y="2696608"/>
            <a:ext cx="10910528" cy="1735035"/>
          </a:xfrm>
          <a:prstGeom prst="rect">
            <a:avLst/>
          </a:prstGeom>
        </p:spPr>
        <p:txBody>
          <a:bodyPr anchor="t" rtlCol="false" tIns="0" lIns="0" bIns="0" rIns="0">
            <a:spAutoFit/>
          </a:bodyPr>
          <a:lstStyle/>
          <a:p>
            <a:pPr algn="l">
              <a:lnSpc>
                <a:spcPts val="13040"/>
              </a:lnSpc>
            </a:pPr>
            <a:r>
              <a:rPr lang="en-US" sz="13040" spc="-782">
                <a:solidFill>
                  <a:srgbClr val="331B0D"/>
                </a:solidFill>
                <a:latin typeface="Open Sauce"/>
                <a:ea typeface="Open Sauce"/>
                <a:cs typeface="Open Sauce"/>
                <a:sym typeface="Open Sauce"/>
              </a:rPr>
              <a:t>The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DAHVAAPfZqg</dc:identifier>
  <dcterms:modified xsi:type="dcterms:W3CDTF">2011-08-01T06:04:30Z</dcterms:modified>
  <cp:revision>1</cp:revision>
  <dc:title>Your paragraph text</dc:title>
</cp:coreProperties>
</file>